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Lilita One" panose="020B0604020202020204" charset="0"/>
      <p:regular r:id="rId37"/>
    </p:embeddedFont>
    <p:embeddedFont>
      <p:font typeface="Poppins" panose="00000500000000000000" pitchFamily="2" charset="0"/>
      <p:regular r:id="rId38"/>
    </p:embeddedFont>
    <p:embeddedFont>
      <p:font typeface="Poppins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67A841-B7F6-4B13-AB60-57E32565E16E}" v="5" dt="2026-06-19T18:41:04.675"/>
    <p1510:client id="{E581D25A-DC74-4AAF-93F3-D54B95D963D8}" v="160" dt="2026-06-19T18:24:20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-1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 Sultane" userId="5d9f87be2f1b4197" providerId="LiveId" clId="{B09E0CC7-C07E-416E-B9CE-5737606EAC32}"/>
    <pc:docChg chg="undo custSel modSld">
      <pc:chgData name="Rushi Sultane" userId="5d9f87be2f1b4197" providerId="LiveId" clId="{B09E0CC7-C07E-416E-B9CE-5737606EAC32}" dt="2026-06-19T18:41:36.205" v="55" actId="14100"/>
      <pc:docMkLst>
        <pc:docMk/>
      </pc:docMkLst>
      <pc:sldChg chg="modSp mod">
        <pc:chgData name="Rushi Sultane" userId="5d9f87be2f1b4197" providerId="LiveId" clId="{B09E0CC7-C07E-416E-B9CE-5737606EAC32}" dt="2026-06-19T18:33:17.565" v="16" actId="255"/>
        <pc:sldMkLst>
          <pc:docMk/>
          <pc:sldMk cId="0" sldId="259"/>
        </pc:sldMkLst>
        <pc:spChg chg="mod">
          <ac:chgData name="Rushi Sultane" userId="5d9f87be2f1b4197" providerId="LiveId" clId="{B09E0CC7-C07E-416E-B9CE-5737606EAC32}" dt="2026-06-19T18:33:17.565" v="16" actId="255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3:59.045" v="21" actId="1076"/>
        <pc:sldMkLst>
          <pc:docMk/>
          <pc:sldMk cId="0" sldId="262"/>
        </pc:sldMkLst>
        <pc:spChg chg="mod">
          <ac:chgData name="Rushi Sultane" userId="5d9f87be2f1b4197" providerId="LiveId" clId="{B09E0CC7-C07E-416E-B9CE-5737606EAC32}" dt="2026-06-19T18:33:50.982" v="20" actId="141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ushi Sultane" userId="5d9f87be2f1b4197" providerId="LiveId" clId="{B09E0CC7-C07E-416E-B9CE-5737606EAC32}" dt="2026-06-19T18:33:59.045" v="21" actId="1076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4:15.737" v="23" actId="255"/>
        <pc:sldMkLst>
          <pc:docMk/>
          <pc:sldMk cId="0" sldId="263"/>
        </pc:sldMkLst>
        <pc:spChg chg="mod">
          <ac:chgData name="Rushi Sultane" userId="5d9f87be2f1b4197" providerId="LiveId" clId="{B09E0CC7-C07E-416E-B9CE-5737606EAC32}" dt="2026-06-19T18:34:15.737" v="23" actId="255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4:35.059" v="25" actId="255"/>
        <pc:sldMkLst>
          <pc:docMk/>
          <pc:sldMk cId="0" sldId="265"/>
        </pc:sldMkLst>
        <pc:spChg chg="mod">
          <ac:chgData name="Rushi Sultane" userId="5d9f87be2f1b4197" providerId="LiveId" clId="{B09E0CC7-C07E-416E-B9CE-5737606EAC32}" dt="2026-06-19T18:34:35.059" v="25" actId="255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2:55.741" v="13" actId="1076"/>
        <pc:sldMkLst>
          <pc:docMk/>
          <pc:sldMk cId="0" sldId="266"/>
        </pc:sldMkLst>
        <pc:spChg chg="mod">
          <ac:chgData name="Rushi Sultane" userId="5d9f87be2f1b4197" providerId="LiveId" clId="{B09E0CC7-C07E-416E-B9CE-5737606EAC32}" dt="2026-06-19T18:32:50.336" v="12" actId="14100"/>
          <ac:spMkLst>
            <pc:docMk/>
            <pc:sldMk cId="0" sldId="266"/>
            <ac:spMk id="15" creationId="{00000000-0000-0000-0000-000000000000}"/>
          </ac:spMkLst>
        </pc:spChg>
        <pc:grpChg chg="mod">
          <ac:chgData name="Rushi Sultane" userId="5d9f87be2f1b4197" providerId="LiveId" clId="{B09E0CC7-C07E-416E-B9CE-5737606EAC32}" dt="2026-06-19T18:32:55.741" v="13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modSp mod">
        <pc:chgData name="Rushi Sultane" userId="5d9f87be2f1b4197" providerId="LiveId" clId="{B09E0CC7-C07E-416E-B9CE-5737606EAC32}" dt="2026-06-19T18:32:13.409" v="5" actId="14100"/>
        <pc:sldMkLst>
          <pc:docMk/>
          <pc:sldMk cId="0" sldId="267"/>
        </pc:sldMkLst>
        <pc:spChg chg="mod">
          <ac:chgData name="Rushi Sultane" userId="5d9f87be2f1b4197" providerId="LiveId" clId="{B09E0CC7-C07E-416E-B9CE-5737606EAC32}" dt="2026-06-19T18:32:13.409" v="5" actId="14100"/>
          <ac:spMkLst>
            <pc:docMk/>
            <pc:sldMk cId="0" sldId="267"/>
            <ac:spMk id="14" creationId="{00000000-0000-0000-0000-000000000000}"/>
          </ac:spMkLst>
        </pc:spChg>
        <pc:grpChg chg="mod">
          <ac:chgData name="Rushi Sultane" userId="5d9f87be2f1b4197" providerId="LiveId" clId="{B09E0CC7-C07E-416E-B9CE-5737606EAC32}" dt="2026-06-19T18:31:48.689" v="3" actId="1076"/>
          <ac:grpSpMkLst>
            <pc:docMk/>
            <pc:sldMk cId="0" sldId="267"/>
            <ac:grpSpMk id="5" creationId="{00000000-0000-0000-0000-000000000000}"/>
          </ac:grpSpMkLst>
        </pc:grpChg>
      </pc:sldChg>
      <pc:sldChg chg="modAnim">
        <pc:chgData name="Rushi Sultane" userId="5d9f87be2f1b4197" providerId="LiveId" clId="{B09E0CC7-C07E-416E-B9CE-5737606EAC32}" dt="2026-06-19T18:31:33.837" v="2"/>
        <pc:sldMkLst>
          <pc:docMk/>
          <pc:sldMk cId="0" sldId="270"/>
        </pc:sldMkLst>
      </pc:sldChg>
      <pc:sldChg chg="modSp mod">
        <pc:chgData name="Rushi Sultane" userId="5d9f87be2f1b4197" providerId="LiveId" clId="{B09E0CC7-C07E-416E-B9CE-5737606EAC32}" dt="2026-06-19T18:35:04.809" v="28" actId="1076"/>
        <pc:sldMkLst>
          <pc:docMk/>
          <pc:sldMk cId="0" sldId="272"/>
        </pc:sldMkLst>
        <pc:spChg chg="mod">
          <ac:chgData name="Rushi Sultane" userId="5d9f87be2f1b4197" providerId="LiveId" clId="{B09E0CC7-C07E-416E-B9CE-5737606EAC32}" dt="2026-06-19T18:35:04.809" v="28" actId="1076"/>
          <ac:spMkLst>
            <pc:docMk/>
            <pc:sldMk cId="0" sldId="272"/>
            <ac:spMk id="15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5:38.716" v="31" actId="1076"/>
        <pc:sldMkLst>
          <pc:docMk/>
          <pc:sldMk cId="0" sldId="276"/>
        </pc:sldMkLst>
        <pc:spChg chg="mod">
          <ac:chgData name="Rushi Sultane" userId="5d9f87be2f1b4197" providerId="LiveId" clId="{B09E0CC7-C07E-416E-B9CE-5737606EAC32}" dt="2026-06-19T18:35:25.062" v="29" actId="255"/>
          <ac:spMkLst>
            <pc:docMk/>
            <pc:sldMk cId="0" sldId="276"/>
            <ac:spMk id="13" creationId="{00000000-0000-0000-0000-000000000000}"/>
          </ac:spMkLst>
        </pc:spChg>
        <pc:spChg chg="mod">
          <ac:chgData name="Rushi Sultane" userId="5d9f87be2f1b4197" providerId="LiveId" clId="{B09E0CC7-C07E-416E-B9CE-5737606EAC32}" dt="2026-06-19T18:35:38.716" v="31" actId="1076"/>
          <ac:spMkLst>
            <pc:docMk/>
            <pc:sldMk cId="0" sldId="276"/>
            <ac:spMk id="14" creationId="{00000000-0000-0000-0000-000000000000}"/>
          </ac:spMkLst>
        </pc:spChg>
        <pc:grpChg chg="mod">
          <ac:chgData name="Rushi Sultane" userId="5d9f87be2f1b4197" providerId="LiveId" clId="{B09E0CC7-C07E-416E-B9CE-5737606EAC32}" dt="2026-06-19T18:35:30.692" v="30" actId="1076"/>
          <ac:grpSpMkLst>
            <pc:docMk/>
            <pc:sldMk cId="0" sldId="276"/>
            <ac:grpSpMk id="5" creationId="{00000000-0000-0000-0000-000000000000}"/>
          </ac:grpSpMkLst>
        </pc:grpChg>
      </pc:sldChg>
      <pc:sldChg chg="modSp mod">
        <pc:chgData name="Rushi Sultane" userId="5d9f87be2f1b4197" providerId="LiveId" clId="{B09E0CC7-C07E-416E-B9CE-5737606EAC32}" dt="2026-06-19T18:35:50.724" v="32" actId="1076"/>
        <pc:sldMkLst>
          <pc:docMk/>
          <pc:sldMk cId="0" sldId="277"/>
        </pc:sldMkLst>
        <pc:spChg chg="mod">
          <ac:chgData name="Rushi Sultane" userId="5d9f87be2f1b4197" providerId="LiveId" clId="{B09E0CC7-C07E-416E-B9CE-5737606EAC32}" dt="2026-06-19T18:35:50.724" v="32" actId="1076"/>
          <ac:spMkLst>
            <pc:docMk/>
            <pc:sldMk cId="0" sldId="277"/>
            <ac:spMk id="15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6:05.185" v="35" actId="1076"/>
        <pc:sldMkLst>
          <pc:docMk/>
          <pc:sldMk cId="0" sldId="279"/>
        </pc:sldMkLst>
        <pc:spChg chg="mod">
          <ac:chgData name="Rushi Sultane" userId="5d9f87be2f1b4197" providerId="LiveId" clId="{B09E0CC7-C07E-416E-B9CE-5737606EAC32}" dt="2026-06-19T18:36:00.255" v="33" actId="14100"/>
          <ac:spMkLst>
            <pc:docMk/>
            <pc:sldMk cId="0" sldId="279"/>
            <ac:spMk id="13" creationId="{00000000-0000-0000-0000-000000000000}"/>
          </ac:spMkLst>
        </pc:spChg>
        <pc:spChg chg="mod">
          <ac:chgData name="Rushi Sultane" userId="5d9f87be2f1b4197" providerId="LiveId" clId="{B09E0CC7-C07E-416E-B9CE-5737606EAC32}" dt="2026-06-19T18:36:05.185" v="35" actId="1076"/>
          <ac:spMkLst>
            <pc:docMk/>
            <pc:sldMk cId="0" sldId="279"/>
            <ac:spMk id="15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6:10.092" v="36" actId="1076"/>
        <pc:sldMkLst>
          <pc:docMk/>
          <pc:sldMk cId="0" sldId="280"/>
        </pc:sldMkLst>
        <pc:spChg chg="mod">
          <ac:chgData name="Rushi Sultane" userId="5d9f87be2f1b4197" providerId="LiveId" clId="{B09E0CC7-C07E-416E-B9CE-5737606EAC32}" dt="2026-06-19T18:36:10.092" v="36" actId="1076"/>
          <ac:spMkLst>
            <pc:docMk/>
            <pc:sldMk cId="0" sldId="280"/>
            <ac:spMk id="17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6:14.618" v="37" actId="1076"/>
        <pc:sldMkLst>
          <pc:docMk/>
          <pc:sldMk cId="0" sldId="281"/>
        </pc:sldMkLst>
        <pc:spChg chg="mod">
          <ac:chgData name="Rushi Sultane" userId="5d9f87be2f1b4197" providerId="LiveId" clId="{B09E0CC7-C07E-416E-B9CE-5737606EAC32}" dt="2026-06-19T18:36:14.618" v="37" actId="1076"/>
          <ac:spMkLst>
            <pc:docMk/>
            <pc:sldMk cId="0" sldId="281"/>
            <ac:spMk id="15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6:30.507" v="38" actId="1076"/>
        <pc:sldMkLst>
          <pc:docMk/>
          <pc:sldMk cId="0" sldId="282"/>
        </pc:sldMkLst>
        <pc:spChg chg="mod">
          <ac:chgData name="Rushi Sultane" userId="5d9f87be2f1b4197" providerId="LiveId" clId="{B09E0CC7-C07E-416E-B9CE-5737606EAC32}" dt="2026-06-19T18:36:30.507" v="38" actId="1076"/>
          <ac:spMkLst>
            <pc:docMk/>
            <pc:sldMk cId="0" sldId="282"/>
            <ac:spMk id="11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6:39.252" v="39" actId="1076"/>
        <pc:sldMkLst>
          <pc:docMk/>
          <pc:sldMk cId="0" sldId="283"/>
        </pc:sldMkLst>
        <pc:spChg chg="mod">
          <ac:chgData name="Rushi Sultane" userId="5d9f87be2f1b4197" providerId="LiveId" clId="{B09E0CC7-C07E-416E-B9CE-5737606EAC32}" dt="2026-06-19T18:36:39.252" v="39" actId="1076"/>
          <ac:spMkLst>
            <pc:docMk/>
            <pc:sldMk cId="0" sldId="283"/>
            <ac:spMk id="16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6:43.342" v="40" actId="1076"/>
        <pc:sldMkLst>
          <pc:docMk/>
          <pc:sldMk cId="0" sldId="284"/>
        </pc:sldMkLst>
        <pc:spChg chg="mod">
          <ac:chgData name="Rushi Sultane" userId="5d9f87be2f1b4197" providerId="LiveId" clId="{B09E0CC7-C07E-416E-B9CE-5737606EAC32}" dt="2026-06-19T18:36:43.342" v="40" actId="1076"/>
          <ac:spMkLst>
            <pc:docMk/>
            <pc:sldMk cId="0" sldId="284"/>
            <ac:spMk id="16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6:56.907" v="42" actId="14100"/>
        <pc:sldMkLst>
          <pc:docMk/>
          <pc:sldMk cId="0" sldId="285"/>
        </pc:sldMkLst>
        <pc:spChg chg="mod">
          <ac:chgData name="Rushi Sultane" userId="5d9f87be2f1b4197" providerId="LiveId" clId="{B09E0CC7-C07E-416E-B9CE-5737606EAC32}" dt="2026-06-19T18:36:56.907" v="42" actId="14100"/>
          <ac:spMkLst>
            <pc:docMk/>
            <pc:sldMk cId="0" sldId="285"/>
            <ac:spMk id="13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7:04.271" v="43" actId="1076"/>
        <pc:sldMkLst>
          <pc:docMk/>
          <pc:sldMk cId="0" sldId="286"/>
        </pc:sldMkLst>
        <pc:spChg chg="mod">
          <ac:chgData name="Rushi Sultane" userId="5d9f87be2f1b4197" providerId="LiveId" clId="{B09E0CC7-C07E-416E-B9CE-5737606EAC32}" dt="2026-06-19T18:37:04.271" v="43" actId="1076"/>
          <ac:spMkLst>
            <pc:docMk/>
            <pc:sldMk cId="0" sldId="286"/>
            <ac:spMk id="17" creationId="{00000000-0000-0000-0000-000000000000}"/>
          </ac:spMkLst>
        </pc:spChg>
      </pc:sldChg>
      <pc:sldChg chg="modSp mod">
        <pc:chgData name="Rushi Sultane" userId="5d9f87be2f1b4197" providerId="LiveId" clId="{B09E0CC7-C07E-416E-B9CE-5737606EAC32}" dt="2026-06-19T18:37:10.622" v="44" actId="1076"/>
        <pc:sldMkLst>
          <pc:docMk/>
          <pc:sldMk cId="0" sldId="287"/>
        </pc:sldMkLst>
        <pc:spChg chg="mod">
          <ac:chgData name="Rushi Sultane" userId="5d9f87be2f1b4197" providerId="LiveId" clId="{B09E0CC7-C07E-416E-B9CE-5737606EAC32}" dt="2026-06-19T18:37:10.622" v="44" actId="1076"/>
          <ac:spMkLst>
            <pc:docMk/>
            <pc:sldMk cId="0" sldId="287"/>
            <ac:spMk id="15" creationId="{00000000-0000-0000-0000-000000000000}"/>
          </ac:spMkLst>
        </pc:spChg>
      </pc:sldChg>
      <pc:sldChg chg="addSp delSp modSp mod">
        <pc:chgData name="Rushi Sultane" userId="5d9f87be2f1b4197" providerId="LiveId" clId="{B09E0CC7-C07E-416E-B9CE-5737606EAC32}" dt="2026-06-19T18:41:36.205" v="55" actId="14100"/>
        <pc:sldMkLst>
          <pc:docMk/>
          <pc:sldMk cId="0" sldId="290"/>
        </pc:sldMkLst>
        <pc:spChg chg="del">
          <ac:chgData name="Rushi Sultane" userId="5d9f87be2f1b4197" providerId="LiveId" clId="{B09E0CC7-C07E-416E-B9CE-5737606EAC32}" dt="2026-06-19T18:41:23.343" v="53" actId="478"/>
          <ac:spMkLst>
            <pc:docMk/>
            <pc:sldMk cId="0" sldId="290"/>
            <ac:spMk id="20" creationId="{00000000-0000-0000-0000-000000000000}"/>
          </ac:spMkLst>
        </pc:spChg>
        <pc:spChg chg="mod">
          <ac:chgData name="Rushi Sultane" userId="5d9f87be2f1b4197" providerId="LiveId" clId="{B09E0CC7-C07E-416E-B9CE-5737606EAC32}" dt="2026-06-19T18:37:26.477" v="45" actId="1076"/>
          <ac:spMkLst>
            <pc:docMk/>
            <pc:sldMk cId="0" sldId="290"/>
            <ac:spMk id="28" creationId="{00000000-0000-0000-0000-000000000000}"/>
          </ac:spMkLst>
        </pc:spChg>
        <pc:picChg chg="add mod">
          <ac:chgData name="Rushi Sultane" userId="5d9f87be2f1b4197" providerId="LiveId" clId="{B09E0CC7-C07E-416E-B9CE-5737606EAC32}" dt="2026-06-19T18:41:36.205" v="55" actId="14100"/>
          <ac:picMkLst>
            <pc:docMk/>
            <pc:sldMk cId="0" sldId="290"/>
            <ac:picMk id="36" creationId="{1467E1AC-2D50-54EB-7192-6B1830E6D6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Click="0" advTm="5000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 advClick="0" advTm="5000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5.svg"/><Relationship Id="rId7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svg"/><Relationship Id="rId11" Type="http://schemas.microsoft.com/office/2007/relationships/hdphoto" Target="../media/hdphoto1.wdp"/><Relationship Id="rId5" Type="http://schemas.openxmlformats.org/officeDocument/2006/relationships/image" Target="../media/image77.svg"/><Relationship Id="rId10" Type="http://schemas.openxmlformats.org/officeDocument/2006/relationships/image" Target="../media/image80.png"/><Relationship Id="rId4" Type="http://schemas.openxmlformats.org/officeDocument/2006/relationships/image" Target="../media/image76.svg"/><Relationship Id="rId9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539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5466189"/>
            <a:ext cx="10517354" cy="869445"/>
            <a:chOff x="0" y="0"/>
            <a:chExt cx="2770003" cy="2289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0003" cy="228990"/>
            </a:xfrm>
            <a:custGeom>
              <a:avLst/>
              <a:gdLst/>
              <a:ahLst/>
              <a:cxnLst/>
              <a:rect l="l" t="t" r="r" b="b"/>
              <a:pathLst>
                <a:path w="2770003" h="228990">
                  <a:moveTo>
                    <a:pt x="73611" y="0"/>
                  </a:moveTo>
                  <a:lnTo>
                    <a:pt x="2696392" y="0"/>
                  </a:lnTo>
                  <a:cubicBezTo>
                    <a:pt x="2715914" y="0"/>
                    <a:pt x="2734638" y="7755"/>
                    <a:pt x="2748443" y="21560"/>
                  </a:cubicBezTo>
                  <a:cubicBezTo>
                    <a:pt x="2762247" y="35365"/>
                    <a:pt x="2770003" y="54088"/>
                    <a:pt x="2770003" y="73611"/>
                  </a:cubicBezTo>
                  <a:lnTo>
                    <a:pt x="2770003" y="155379"/>
                  </a:lnTo>
                  <a:cubicBezTo>
                    <a:pt x="2770003" y="174902"/>
                    <a:pt x="2762247" y="193625"/>
                    <a:pt x="2748443" y="207429"/>
                  </a:cubicBezTo>
                  <a:cubicBezTo>
                    <a:pt x="2734638" y="221234"/>
                    <a:pt x="2715914" y="228990"/>
                    <a:pt x="2696392" y="228990"/>
                  </a:cubicBezTo>
                  <a:lnTo>
                    <a:pt x="73611" y="228990"/>
                  </a:lnTo>
                  <a:cubicBezTo>
                    <a:pt x="54088" y="228990"/>
                    <a:pt x="35365" y="221234"/>
                    <a:pt x="21560" y="207429"/>
                  </a:cubicBezTo>
                  <a:cubicBezTo>
                    <a:pt x="7755" y="193625"/>
                    <a:pt x="0" y="174902"/>
                    <a:pt x="0" y="155379"/>
                  </a:cubicBezTo>
                  <a:lnTo>
                    <a:pt x="0" y="73611"/>
                  </a:lnTo>
                  <a:cubicBezTo>
                    <a:pt x="0" y="54088"/>
                    <a:pt x="7755" y="35365"/>
                    <a:pt x="21560" y="21560"/>
                  </a:cubicBezTo>
                  <a:cubicBezTo>
                    <a:pt x="35365" y="7755"/>
                    <a:pt x="54088" y="0"/>
                    <a:pt x="73611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770003" cy="257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178611" y="4867053"/>
            <a:ext cx="5514991" cy="4680848"/>
          </a:xfrm>
          <a:custGeom>
            <a:avLst/>
            <a:gdLst/>
            <a:ahLst/>
            <a:cxnLst/>
            <a:rect l="l" t="t" r="r" b="b"/>
            <a:pathLst>
              <a:path w="5514991" h="4680848">
                <a:moveTo>
                  <a:pt x="0" y="0"/>
                </a:moveTo>
                <a:lnTo>
                  <a:pt x="5514991" y="0"/>
                </a:lnTo>
                <a:lnTo>
                  <a:pt x="5514991" y="4680848"/>
                </a:lnTo>
                <a:lnTo>
                  <a:pt x="0" y="4680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28700" y="7666882"/>
            <a:ext cx="131539" cy="1033478"/>
            <a:chOff x="0" y="0"/>
            <a:chExt cx="34644" cy="2721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644" cy="272192"/>
            </a:xfrm>
            <a:custGeom>
              <a:avLst/>
              <a:gdLst/>
              <a:ahLst/>
              <a:cxnLst/>
              <a:rect l="l" t="t" r="r" b="b"/>
              <a:pathLst>
                <a:path w="34644" h="272192">
                  <a:moveTo>
                    <a:pt x="0" y="0"/>
                  </a:moveTo>
                  <a:lnTo>
                    <a:pt x="34644" y="0"/>
                  </a:lnTo>
                  <a:lnTo>
                    <a:pt x="34644" y="272192"/>
                  </a:lnTo>
                  <a:lnTo>
                    <a:pt x="0" y="27219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644" cy="310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111090" y="1812127"/>
            <a:ext cx="3013966" cy="2927315"/>
          </a:xfrm>
          <a:custGeom>
            <a:avLst/>
            <a:gdLst/>
            <a:ahLst/>
            <a:cxnLst/>
            <a:rect l="l" t="t" r="r" b="b"/>
            <a:pathLst>
              <a:path w="3013966" h="2927315">
                <a:moveTo>
                  <a:pt x="0" y="0"/>
                </a:moveTo>
                <a:lnTo>
                  <a:pt x="3013967" y="0"/>
                </a:lnTo>
                <a:lnTo>
                  <a:pt x="3013967" y="2927314"/>
                </a:lnTo>
                <a:lnTo>
                  <a:pt x="0" y="2927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2262984"/>
            <a:ext cx="13926768" cy="747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41"/>
              </a:lnSpc>
            </a:pPr>
            <a:r>
              <a:rPr lang="en-US" sz="577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SUPERSTORE SALES DATABASE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542137"/>
            <a:ext cx="10517354" cy="325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0"/>
              </a:lnSpc>
            </a:pPr>
            <a:r>
              <a:rPr lang="en-US" sz="18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Comprehensive Business Intelligence Using Advanced SQL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4061" y="8414966"/>
            <a:ext cx="13926768" cy="307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9"/>
              </a:lnSpc>
            </a:pPr>
            <a:r>
              <a:rPr lang="en-US" sz="175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Rushikesh Narayan Sultane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4061" y="7619257"/>
            <a:ext cx="7176034" cy="307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9"/>
              </a:lnSpc>
              <a:spcBef>
                <a:spcPct val="0"/>
              </a:spcBef>
            </a:pPr>
            <a:r>
              <a:rPr lang="en-US" sz="1757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BSc Data Science</a:t>
            </a:r>
          </a:p>
        </p:txBody>
      </p:sp>
      <p:sp>
        <p:nvSpPr>
          <p:cNvPr id="20" name="Freeform 20"/>
          <p:cNvSpPr/>
          <p:nvPr/>
        </p:nvSpPr>
        <p:spPr>
          <a:xfrm rot="-1617912">
            <a:off x="13302929" y="745015"/>
            <a:ext cx="1501463" cy="2152634"/>
          </a:xfrm>
          <a:custGeom>
            <a:avLst/>
            <a:gdLst/>
            <a:ahLst/>
            <a:cxnLst/>
            <a:rect l="l" t="t" r="r" b="b"/>
            <a:pathLst>
              <a:path w="1501463" h="2152634">
                <a:moveTo>
                  <a:pt x="0" y="0"/>
                </a:moveTo>
                <a:lnTo>
                  <a:pt x="1501463" y="0"/>
                </a:lnTo>
                <a:lnTo>
                  <a:pt x="1501463" y="2152635"/>
                </a:lnTo>
                <a:lnTo>
                  <a:pt x="0" y="2152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84061" y="8010424"/>
            <a:ext cx="3236357" cy="307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9"/>
              </a:lnSpc>
              <a:spcBef>
                <a:spcPct val="0"/>
              </a:spcBef>
            </a:pPr>
            <a:r>
              <a:rPr lang="en-US" sz="1757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rushisultane00@gmail.com</a:t>
            </a:r>
          </a:p>
        </p:txBody>
      </p:sp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986329" y="4471770"/>
            <a:ext cx="6863424" cy="665162"/>
            <a:chOff x="0" y="0"/>
            <a:chExt cx="1807651" cy="1751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7651" cy="175187"/>
            </a:xfrm>
            <a:custGeom>
              <a:avLst/>
              <a:gdLst/>
              <a:ahLst/>
              <a:cxnLst/>
              <a:rect l="l" t="t" r="r" b="b"/>
              <a:pathLst>
                <a:path w="1807651" h="175187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86329" y="5325272"/>
            <a:ext cx="6863424" cy="665162"/>
            <a:chOff x="0" y="0"/>
            <a:chExt cx="1807651" cy="1751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7651" cy="175187"/>
            </a:xfrm>
            <a:custGeom>
              <a:avLst/>
              <a:gdLst/>
              <a:ahLst/>
              <a:cxnLst/>
              <a:rect l="l" t="t" r="r" b="b"/>
              <a:pathLst>
                <a:path w="1807651" h="175187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86329" y="6178774"/>
            <a:ext cx="6863424" cy="665162"/>
            <a:chOff x="0" y="0"/>
            <a:chExt cx="1807651" cy="1751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07651" cy="175187"/>
            </a:xfrm>
            <a:custGeom>
              <a:avLst/>
              <a:gdLst/>
              <a:ahLst/>
              <a:cxnLst/>
              <a:rect l="l" t="t" r="r" b="b"/>
              <a:pathLst>
                <a:path w="1807651" h="175187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86329" y="7032275"/>
            <a:ext cx="6863424" cy="665162"/>
            <a:chOff x="0" y="0"/>
            <a:chExt cx="1807651" cy="1751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7651" cy="175187"/>
            </a:xfrm>
            <a:custGeom>
              <a:avLst/>
              <a:gdLst/>
              <a:ahLst/>
              <a:cxnLst/>
              <a:rect l="l" t="t" r="r" b="b"/>
              <a:pathLst>
                <a:path w="1807651" h="175187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86329" y="7885777"/>
            <a:ext cx="6863424" cy="665162"/>
            <a:chOff x="0" y="0"/>
            <a:chExt cx="1807651" cy="1751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07651" cy="175187"/>
            </a:xfrm>
            <a:custGeom>
              <a:avLst/>
              <a:gdLst/>
              <a:ahLst/>
              <a:cxnLst/>
              <a:rect l="l" t="t" r="r" b="b"/>
              <a:pathLst>
                <a:path w="1807651" h="175187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30146" y="4588747"/>
            <a:ext cx="472735" cy="47273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30146" y="5431867"/>
            <a:ext cx="472735" cy="47273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30146" y="6274987"/>
            <a:ext cx="472735" cy="47273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30146" y="7118106"/>
            <a:ext cx="472735" cy="47273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30146" y="7961226"/>
            <a:ext cx="472735" cy="47273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028700" y="1603662"/>
            <a:ext cx="7379095" cy="7911310"/>
          </a:xfrm>
          <a:custGeom>
            <a:avLst/>
            <a:gdLst/>
            <a:ahLst/>
            <a:cxnLst/>
            <a:rect l="l" t="t" r="r" b="b"/>
            <a:pathLst>
              <a:path w="7379095" h="7911310">
                <a:moveTo>
                  <a:pt x="0" y="0"/>
                </a:moveTo>
                <a:lnTo>
                  <a:pt x="7379095" y="0"/>
                </a:lnTo>
                <a:lnTo>
                  <a:pt x="7379095" y="7911310"/>
                </a:lnTo>
                <a:lnTo>
                  <a:pt x="0" y="7911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rot="-8624752">
            <a:off x="785499" y="3828383"/>
            <a:ext cx="1085674" cy="1556523"/>
          </a:xfrm>
          <a:custGeom>
            <a:avLst/>
            <a:gdLst/>
            <a:ahLst/>
            <a:cxnLst/>
            <a:rect l="l" t="t" r="r" b="b"/>
            <a:pathLst>
              <a:path w="1085674" h="1556523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rot="3736269">
            <a:off x="7443072" y="6750963"/>
            <a:ext cx="856381" cy="1227787"/>
          </a:xfrm>
          <a:custGeom>
            <a:avLst/>
            <a:gdLst/>
            <a:ahLst/>
            <a:cxnLst/>
            <a:rect l="l" t="t" r="r" b="b"/>
            <a:pathLst>
              <a:path w="856381" h="1227787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-568362" y="869615"/>
            <a:ext cx="2956182" cy="2253254"/>
          </a:xfrm>
          <a:custGeom>
            <a:avLst/>
            <a:gdLst/>
            <a:ahLst/>
            <a:cxnLst/>
            <a:rect l="l" t="t" r="r" b="b"/>
            <a:pathLst>
              <a:path w="2956182" h="2253254">
                <a:moveTo>
                  <a:pt x="0" y="0"/>
                </a:moveTo>
                <a:lnTo>
                  <a:pt x="2956182" y="0"/>
                </a:lnTo>
                <a:lnTo>
                  <a:pt x="2956182" y="2253253"/>
                </a:lnTo>
                <a:lnTo>
                  <a:pt x="0" y="2253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330146" y="1578076"/>
            <a:ext cx="8957854" cy="908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AGENDA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58897" y="2705836"/>
            <a:ext cx="8929103" cy="12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Structure &amp;</a:t>
            </a:r>
          </a:p>
          <a:p>
            <a:pPr marL="0" lvl="0" indent="0" algn="l">
              <a:lnSpc>
                <a:spcPts val="5036"/>
              </a:lnSpc>
            </a:pPr>
            <a:r>
              <a:rPr lang="en-US" sz="359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Query Overview</a:t>
            </a:r>
          </a:p>
        </p:txBody>
      </p:sp>
      <p:sp>
        <p:nvSpPr>
          <p:cNvPr id="44" name="Freeform 44"/>
          <p:cNvSpPr/>
          <p:nvPr/>
        </p:nvSpPr>
        <p:spPr>
          <a:xfrm rot="7612064">
            <a:off x="17420867" y="2450918"/>
            <a:ext cx="1085674" cy="1556523"/>
          </a:xfrm>
          <a:custGeom>
            <a:avLst/>
            <a:gdLst/>
            <a:ahLst/>
            <a:cxnLst/>
            <a:rect l="l" t="t" r="r" b="b"/>
            <a:pathLst>
              <a:path w="1085674" h="1556523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0390267" y="4568545"/>
            <a:ext cx="7175839" cy="27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6"/>
              </a:lnSpc>
            </a:pPr>
            <a:r>
              <a:rPr lang="en-US" sz="156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to Database &amp; Project Scope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390267" y="5422046"/>
            <a:ext cx="7175839" cy="27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6"/>
              </a:lnSpc>
            </a:pPr>
            <a:r>
              <a:rPr lang="en-US" sz="15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Analysis (Queries 1–5)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390267" y="6275548"/>
            <a:ext cx="7175839" cy="27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6"/>
              </a:lnSpc>
            </a:pPr>
            <a:r>
              <a:rPr lang="en-US" sz="15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Shipping &amp; Order Analysis (Queries 6–11)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390267" y="7129049"/>
            <a:ext cx="7175839" cy="27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6"/>
              </a:lnSpc>
            </a:pPr>
            <a:r>
              <a:rPr lang="en-US" sz="15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Performance &amp; Sales Deep Dive (Queries 12–20)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390267" y="7982551"/>
            <a:ext cx="7175839" cy="27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6"/>
              </a:lnSpc>
            </a:pPr>
            <a:r>
              <a:rPr lang="en-US" sz="15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Analytics with Window Functions (Queries 21–25) &amp; Summary</a:t>
            </a:r>
          </a:p>
        </p:txBody>
      </p:sp>
    </p:spTree>
  </p:cSld>
  <p:clrMapOvr>
    <a:masterClrMapping/>
  </p:clrMapOvr>
  <p:transition spd="med" advClick="0" advTm="5000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229219"/>
            <a:ext cx="9900735" cy="3058314"/>
            <a:chOff x="0" y="0"/>
            <a:chExt cx="2607601" cy="805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7601" cy="805482"/>
            </a:xfrm>
            <a:custGeom>
              <a:avLst/>
              <a:gdLst/>
              <a:ahLst/>
              <a:cxnLst/>
              <a:rect l="l" t="t" r="r" b="b"/>
              <a:pathLst>
                <a:path w="2607601" h="805482">
                  <a:moveTo>
                    <a:pt x="39098" y="0"/>
                  </a:moveTo>
                  <a:lnTo>
                    <a:pt x="2568503" y="0"/>
                  </a:lnTo>
                  <a:cubicBezTo>
                    <a:pt x="2590097" y="0"/>
                    <a:pt x="2607601" y="17505"/>
                    <a:pt x="2607601" y="39098"/>
                  </a:cubicBezTo>
                  <a:lnTo>
                    <a:pt x="2607601" y="766384"/>
                  </a:lnTo>
                  <a:cubicBezTo>
                    <a:pt x="2607601" y="787977"/>
                    <a:pt x="2590097" y="805482"/>
                    <a:pt x="2568503" y="805482"/>
                  </a:cubicBezTo>
                  <a:lnTo>
                    <a:pt x="39098" y="805482"/>
                  </a:lnTo>
                  <a:cubicBezTo>
                    <a:pt x="17505" y="805482"/>
                    <a:pt x="0" y="787977"/>
                    <a:pt x="0" y="766384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07601" cy="843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1499813" y="3956352"/>
            <a:ext cx="7736362" cy="4865636"/>
          </a:xfrm>
          <a:custGeom>
            <a:avLst/>
            <a:gdLst/>
            <a:ahLst/>
            <a:cxnLst/>
            <a:rect l="l" t="t" r="r" b="b"/>
            <a:pathLst>
              <a:path w="7736362" h="4865636">
                <a:moveTo>
                  <a:pt x="7736362" y="0"/>
                </a:moveTo>
                <a:lnTo>
                  <a:pt x="0" y="0"/>
                </a:lnTo>
                <a:lnTo>
                  <a:pt x="0" y="4865636"/>
                </a:lnTo>
                <a:lnTo>
                  <a:pt x="7736362" y="4865636"/>
                </a:lnTo>
                <a:lnTo>
                  <a:pt x="77363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838311">
            <a:off x="16411279" y="868299"/>
            <a:ext cx="2290639" cy="4721839"/>
          </a:xfrm>
          <a:custGeom>
            <a:avLst/>
            <a:gdLst/>
            <a:ahLst/>
            <a:cxnLst/>
            <a:rect l="l" t="t" r="r" b="b"/>
            <a:pathLst>
              <a:path w="2290639" h="4721839">
                <a:moveTo>
                  <a:pt x="0" y="0"/>
                </a:moveTo>
                <a:lnTo>
                  <a:pt x="2290638" y="0"/>
                </a:lnTo>
                <a:lnTo>
                  <a:pt x="2290638" y="4721839"/>
                </a:lnTo>
                <a:lnTo>
                  <a:pt x="0" y="472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181100"/>
            <a:ext cx="13926768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CUSTOMER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ANALYSIS</a:t>
            </a:r>
          </a:p>
        </p:txBody>
      </p:sp>
      <p:sp>
        <p:nvSpPr>
          <p:cNvPr id="14" name="Freeform 14"/>
          <p:cNvSpPr/>
          <p:nvPr/>
        </p:nvSpPr>
        <p:spPr>
          <a:xfrm rot="-4330008">
            <a:off x="12882801" y="698264"/>
            <a:ext cx="1551947" cy="2225014"/>
          </a:xfrm>
          <a:custGeom>
            <a:avLst/>
            <a:gdLst/>
            <a:ahLst/>
            <a:cxnLst/>
            <a:rect l="l" t="t" r="r" b="b"/>
            <a:pathLst>
              <a:path w="1551947" h="2225014">
                <a:moveTo>
                  <a:pt x="0" y="0"/>
                </a:moveTo>
                <a:lnTo>
                  <a:pt x="1551948" y="0"/>
                </a:lnTo>
                <a:lnTo>
                  <a:pt x="1551948" y="2225014"/>
                </a:lnTo>
                <a:lnTo>
                  <a:pt x="0" y="2225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6706372">
            <a:off x="1711459" y="6923795"/>
            <a:ext cx="1280517" cy="1835866"/>
          </a:xfrm>
          <a:custGeom>
            <a:avLst/>
            <a:gdLst/>
            <a:ahLst/>
            <a:cxnLst/>
            <a:rect l="l" t="t" r="r" b="b"/>
            <a:pathLst>
              <a:path w="1280517" h="1835866">
                <a:moveTo>
                  <a:pt x="0" y="0"/>
                </a:moveTo>
                <a:lnTo>
                  <a:pt x="1280517" y="0"/>
                </a:lnTo>
                <a:lnTo>
                  <a:pt x="1280517" y="1835866"/>
                </a:lnTo>
                <a:lnTo>
                  <a:pt x="0" y="1835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9144000" y="7093960"/>
            <a:ext cx="3494494" cy="2576968"/>
          </a:xfrm>
          <a:custGeom>
            <a:avLst/>
            <a:gdLst/>
            <a:ahLst/>
            <a:cxnLst/>
            <a:rect l="l" t="t" r="r" b="b"/>
            <a:pathLst>
              <a:path w="3494494" h="2576968">
                <a:moveTo>
                  <a:pt x="3494494" y="0"/>
                </a:moveTo>
                <a:lnTo>
                  <a:pt x="0" y="0"/>
                </a:lnTo>
                <a:lnTo>
                  <a:pt x="0" y="2576968"/>
                </a:lnTo>
                <a:lnTo>
                  <a:pt x="3494494" y="2576968"/>
                </a:lnTo>
                <a:lnTo>
                  <a:pt x="34944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256196" y="7438361"/>
            <a:ext cx="3362124" cy="2232567"/>
          </a:xfrm>
          <a:custGeom>
            <a:avLst/>
            <a:gdLst/>
            <a:ahLst/>
            <a:cxnLst/>
            <a:rect l="l" t="t" r="r" b="b"/>
            <a:pathLst>
              <a:path w="3362124" h="2232567">
                <a:moveTo>
                  <a:pt x="0" y="0"/>
                </a:moveTo>
                <a:lnTo>
                  <a:pt x="3362124" y="0"/>
                </a:lnTo>
                <a:lnTo>
                  <a:pt x="3362124" y="2232567"/>
                </a:lnTo>
                <a:lnTo>
                  <a:pt x="0" y="2232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90644" y="3450573"/>
            <a:ext cx="13364824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1: Queries 1–5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0644" y="4205629"/>
            <a:ext cx="8776848" cy="175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Understanding customer behavior, profitability, and segmentation.</a:t>
            </a:r>
          </a:p>
          <a:p>
            <a:pPr marL="0" lvl="0" indent="0" algn="just">
              <a:lnSpc>
                <a:spcPts val="3497"/>
              </a:lnSpc>
            </a:pPr>
            <a:r>
              <a:rPr lang="en-US" sz="24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Explore who your top customers are, which customers</a:t>
            </a:r>
          </a:p>
          <a:p>
            <a:pPr marL="0" lvl="0" indent="0" algn="just">
              <a:lnSpc>
                <a:spcPts val="3497"/>
              </a:lnSpc>
            </a:pPr>
            <a:r>
              <a:rPr lang="en-US" sz="24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span all regions, and where losses are concentrated.</a:t>
            </a:r>
          </a:p>
        </p:txBody>
      </p:sp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1: TOP 5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CUSTOMERS BY PROFIT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66800" y="6178971"/>
            <a:ext cx="4474564" cy="3410633"/>
          </a:xfrm>
          <a:custGeom>
            <a:avLst/>
            <a:gdLst/>
            <a:ahLst/>
            <a:cxnLst/>
            <a:rect l="l" t="t" r="r" b="b"/>
            <a:pathLst>
              <a:path w="5667187" h="4592534">
                <a:moveTo>
                  <a:pt x="0" y="0"/>
                </a:moveTo>
                <a:lnTo>
                  <a:pt x="5667187" y="0"/>
                </a:lnTo>
                <a:lnTo>
                  <a:pt x="5667187" y="4592534"/>
                </a:lnTo>
                <a:lnTo>
                  <a:pt x="0" y="4592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95887" y="5817405"/>
            <a:ext cx="10712287" cy="500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31"/>
              </a:lnSpc>
            </a:pPr>
            <a:r>
              <a:rPr lang="en-US" sz="2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Identify Top 5 Profit-Contributing Customers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7831" y="6672059"/>
            <a:ext cx="9337573" cy="128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50"/>
              </a:lnSpc>
            </a:pP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Techniques: JOINs, GROUP BY, SUM(profit), percentage calculation.</a:t>
            </a:r>
          </a:p>
          <a:p>
            <a:pPr marL="0" lvl="0" indent="0" algn="just">
              <a:lnSpc>
                <a:spcPts val="2050"/>
              </a:lnSpc>
            </a:pP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The top 5 customers generate a disproportionately large share of total profit — highlighting key business contributors that deserve priority attention and retention strategies.</a:t>
            </a:r>
          </a:p>
          <a:p>
            <a:pPr marL="0" lvl="0" indent="0" algn="just">
              <a:lnSpc>
                <a:spcPts val="2050"/>
              </a:lnSpc>
            </a:pP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Query: SELECT </a:t>
            </a:r>
            <a:r>
              <a:rPr lang="en-US" sz="14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customer_name</a:t>
            </a: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SUM(profit) AS </a:t>
            </a:r>
            <a:r>
              <a:rPr lang="en-US" sz="14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total_profit</a:t>
            </a: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FROM orders GROUP BY </a:t>
            </a:r>
            <a:r>
              <a:rPr lang="en-US" sz="14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customer_name</a:t>
            </a: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ORDER BY </a:t>
            </a:r>
            <a:r>
              <a:rPr lang="en-US" sz="14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total_profit</a:t>
            </a: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DESC LIMIT 5;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15641858" y="1798916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19" y="0"/>
                </a:moveTo>
                <a:lnTo>
                  <a:pt x="0" y="0"/>
                </a:lnTo>
                <a:lnTo>
                  <a:pt x="0" y="3243938"/>
                </a:lnTo>
                <a:lnTo>
                  <a:pt x="4255919" y="3243938"/>
                </a:lnTo>
                <a:lnTo>
                  <a:pt x="42559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8262" y="33395"/>
            <a:ext cx="10881516" cy="3898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c.customer_name</a:t>
            </a:r>
            <a:endParaRPr lang="en-US" sz="2222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s.profit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AS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total_profit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            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ROUND(SUM(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s.profit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* 100 / (SELECT SUM(profit) FROM sales), 2) AS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profit_share_pct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sales s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orders o ON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s.order_id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=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o.order_id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customers c ON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o.customer_id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=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c.customer_id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c.customer_name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                     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</a:t>
            </a:r>
            <a:r>
              <a:rPr lang="en-US" sz="2222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total_profit</a:t>
            </a: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DESC                       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r>
              <a:rPr lang="en-US" sz="2222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LIMIT 5;            </a:t>
            </a:r>
          </a:p>
          <a:p>
            <a:pPr algn="just">
              <a:lnSpc>
                <a:spcPts val="3110"/>
              </a:lnSpc>
              <a:spcBef>
                <a:spcPct val="0"/>
              </a:spcBef>
            </a:pPr>
            <a:endParaRPr lang="en-US" sz="2222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F670B7-C0A3-E240-607F-8F3C5F1FA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420" y="3671739"/>
            <a:ext cx="4931559" cy="1756260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6800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2: ALL-REGION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CUSTOMERS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7892" y="6813635"/>
            <a:ext cx="4236508" cy="2537399"/>
          </a:xfrm>
          <a:custGeom>
            <a:avLst/>
            <a:gdLst/>
            <a:ahLst/>
            <a:cxnLst/>
            <a:rect l="l" t="t" r="r" b="b"/>
            <a:pathLst>
              <a:path w="6332618" h="4163696">
                <a:moveTo>
                  <a:pt x="0" y="0"/>
                </a:moveTo>
                <a:lnTo>
                  <a:pt x="6332618" y="0"/>
                </a:lnTo>
                <a:lnTo>
                  <a:pt x="6332618" y="4163696"/>
                </a:lnTo>
                <a:lnTo>
                  <a:pt x="0" y="4163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Customers Ordering From All 4 Regions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Technique: JOIN, GROUP BY, HAVING COUNT(DISTINCT region) = 4. Objective: Find customers who placed orders in all four geographic regions. Insight: These customers show widespread engagement and loyalty, making them high-value targets for retention and cross-regional promotions.</a:t>
            </a:r>
          </a:p>
        </p:txBody>
      </p:sp>
      <p:sp>
        <p:nvSpPr>
          <p:cNvPr id="16" name="Freeform 16"/>
          <p:cNvSpPr/>
          <p:nvPr/>
        </p:nvSpPr>
        <p:spPr>
          <a:xfrm rot="458970">
            <a:off x="3452331" y="877344"/>
            <a:ext cx="3701860" cy="1804657"/>
          </a:xfrm>
          <a:custGeom>
            <a:avLst/>
            <a:gdLst/>
            <a:ahLst/>
            <a:cxnLst/>
            <a:rect l="l" t="t" r="r" b="b"/>
            <a:pathLst>
              <a:path w="3701860" h="1804657">
                <a:moveTo>
                  <a:pt x="0" y="0"/>
                </a:moveTo>
                <a:lnTo>
                  <a:pt x="3701860" y="0"/>
                </a:lnTo>
                <a:lnTo>
                  <a:pt x="3701860" y="1804657"/>
                </a:lnTo>
                <a:lnTo>
                  <a:pt x="0" y="1804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Freeform 17"/>
          <p:cNvSpPr/>
          <p:nvPr/>
        </p:nvSpPr>
        <p:spPr>
          <a:xfrm>
            <a:off x="15211794" y="1652137"/>
            <a:ext cx="4255920" cy="4197401"/>
          </a:xfrm>
          <a:custGeom>
            <a:avLst/>
            <a:gdLst/>
            <a:ahLst/>
            <a:cxnLst/>
            <a:rect l="l" t="t" r="r" b="b"/>
            <a:pathLst>
              <a:path w="4255920" h="4197401">
                <a:moveTo>
                  <a:pt x="0" y="0"/>
                </a:moveTo>
                <a:lnTo>
                  <a:pt x="4255920" y="0"/>
                </a:lnTo>
                <a:lnTo>
                  <a:pt x="4255920" y="4197401"/>
                </a:lnTo>
                <a:lnTo>
                  <a:pt x="0" y="41974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-397032"/>
            <a:ext cx="8115851" cy="322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87"/>
              </a:lnSpc>
              <a:spcBef>
                <a:spcPct val="0"/>
              </a:spcBef>
            </a:pPr>
            <a:endParaRPr dirty="0"/>
          </a:p>
          <a:p>
            <a:pPr marL="0" lvl="0" indent="0" algn="just">
              <a:lnSpc>
                <a:spcPts val="3687"/>
              </a:lnSpc>
              <a:spcBef>
                <a:spcPct val="0"/>
              </a:spcBef>
            </a:pP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SELECT </a:t>
            </a:r>
            <a:r>
              <a:rPr lang="en-US" sz="263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c.customer_id</a:t>
            </a: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 </a:t>
            </a:r>
            <a:r>
              <a:rPr lang="en-US" sz="263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c.customer_name</a:t>
            </a: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        </a:t>
            </a:r>
          </a:p>
          <a:p>
            <a:pPr marL="0" lvl="0" indent="0" algn="just">
              <a:lnSpc>
                <a:spcPts val="3687"/>
              </a:lnSpc>
              <a:spcBef>
                <a:spcPct val="0"/>
              </a:spcBef>
            </a:pP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FROM customers c</a:t>
            </a:r>
          </a:p>
          <a:p>
            <a:pPr marL="0" lvl="0" indent="0" algn="just">
              <a:lnSpc>
                <a:spcPts val="3687"/>
              </a:lnSpc>
              <a:spcBef>
                <a:spcPct val="0"/>
              </a:spcBef>
            </a:pP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INNER JOIN orders o ON </a:t>
            </a:r>
            <a:r>
              <a:rPr lang="en-US" sz="263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c.customer_id</a:t>
            </a: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= </a:t>
            </a:r>
            <a:r>
              <a:rPr lang="en-US" sz="263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o.customer_id</a:t>
            </a: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</a:p>
          <a:p>
            <a:pPr marL="0" lvl="0" indent="0" algn="just">
              <a:lnSpc>
                <a:spcPts val="3687"/>
              </a:lnSpc>
              <a:spcBef>
                <a:spcPct val="0"/>
              </a:spcBef>
            </a:pP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GROUP BY </a:t>
            </a:r>
            <a:r>
              <a:rPr lang="en-US" sz="263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c.customer_id</a:t>
            </a: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 </a:t>
            </a:r>
            <a:r>
              <a:rPr lang="en-US" sz="263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c.customer_name</a:t>
            </a: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      </a:t>
            </a:r>
          </a:p>
          <a:p>
            <a:pPr marL="0" lvl="0" indent="0" algn="just">
              <a:lnSpc>
                <a:spcPts val="3687"/>
              </a:lnSpc>
              <a:spcBef>
                <a:spcPct val="0"/>
              </a:spcBef>
            </a:pP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HAVING COUNT(DISTINCT </a:t>
            </a:r>
            <a:r>
              <a:rPr lang="en-US" sz="263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o.region</a:t>
            </a:r>
            <a:r>
              <a:rPr lang="en-US" sz="263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= 4; </a:t>
            </a:r>
          </a:p>
          <a:p>
            <a:pPr marL="0" lvl="0" indent="0" algn="just">
              <a:lnSpc>
                <a:spcPts val="3687"/>
              </a:lnSpc>
              <a:spcBef>
                <a:spcPct val="0"/>
              </a:spcBef>
            </a:pPr>
            <a:endParaRPr lang="en-US" sz="2634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E224E0-7529-A61A-1C32-F0B9471969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78" y="2541322"/>
            <a:ext cx="3843093" cy="4113311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3: CUSTOMERS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WITH NEGATIVE PROFIT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1" y="7002091"/>
            <a:ext cx="4152900" cy="2587513"/>
          </a:xfrm>
          <a:custGeom>
            <a:avLst/>
            <a:gdLst/>
            <a:ahLst/>
            <a:cxnLst/>
            <a:rect l="l" t="t" r="r" b="b"/>
            <a:pathLst>
              <a:path w="5667187" h="4592534">
                <a:moveTo>
                  <a:pt x="0" y="0"/>
                </a:moveTo>
                <a:lnTo>
                  <a:pt x="5667187" y="0"/>
                </a:lnTo>
                <a:lnTo>
                  <a:pt x="5667187" y="4592534"/>
                </a:lnTo>
                <a:lnTo>
                  <a:pt x="0" y="4592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&amp; SQL Technique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customers generating negative total profit across all orders using JOIN, aggregation, and HAVING SUM(profit) &lt; 0. Insight: Pinpoints loss-generating customers, enabling targeted retention, pricing adjustments, or cost reduction strategies to improve overall profitability.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15641858" y="1798916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19" y="0"/>
                </a:moveTo>
                <a:lnTo>
                  <a:pt x="0" y="0"/>
                </a:lnTo>
                <a:lnTo>
                  <a:pt x="0" y="3243938"/>
                </a:lnTo>
                <a:lnTo>
                  <a:pt x="4255919" y="3243938"/>
                </a:lnTo>
                <a:lnTo>
                  <a:pt x="42559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0919" y="77806"/>
            <a:ext cx="8008017" cy="320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67"/>
              </a:lnSpc>
              <a:spcBef>
                <a:spcPct val="0"/>
              </a:spcBef>
            </a:pPr>
            <a:r>
              <a:rPr lang="en-US" sz="261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c.customer_id , c.customer_name           </a:t>
            </a:r>
          </a:p>
          <a:p>
            <a:pPr marL="0" lvl="0" indent="0" algn="just">
              <a:lnSpc>
                <a:spcPts val="3667"/>
              </a:lnSpc>
              <a:spcBef>
                <a:spcPct val="0"/>
              </a:spcBef>
            </a:pPr>
            <a:r>
              <a:rPr lang="en-US" sz="261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customers c</a:t>
            </a:r>
          </a:p>
          <a:p>
            <a:pPr marL="0" lvl="0" indent="0" algn="just">
              <a:lnSpc>
                <a:spcPts val="3667"/>
              </a:lnSpc>
              <a:spcBef>
                <a:spcPct val="0"/>
              </a:spcBef>
            </a:pPr>
            <a:r>
              <a:rPr lang="en-US" sz="261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orders o ON c.customer_id = o.customer_id </a:t>
            </a:r>
          </a:p>
          <a:p>
            <a:pPr marL="0" lvl="0" indent="0" algn="just">
              <a:lnSpc>
                <a:spcPts val="3667"/>
              </a:lnSpc>
              <a:spcBef>
                <a:spcPct val="0"/>
              </a:spcBef>
            </a:pPr>
            <a:r>
              <a:rPr lang="en-US" sz="261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o.order_id = s.order_id    </a:t>
            </a:r>
          </a:p>
          <a:p>
            <a:pPr marL="0" lvl="0" indent="0" algn="just">
              <a:lnSpc>
                <a:spcPts val="3667"/>
              </a:lnSpc>
              <a:spcBef>
                <a:spcPct val="0"/>
              </a:spcBef>
            </a:pPr>
            <a:r>
              <a:rPr lang="en-US" sz="261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c.customer_id , c.customer_name         </a:t>
            </a:r>
          </a:p>
          <a:p>
            <a:pPr marL="0" lvl="0" indent="0" algn="just">
              <a:lnSpc>
                <a:spcPts val="3667"/>
              </a:lnSpc>
              <a:spcBef>
                <a:spcPct val="0"/>
              </a:spcBef>
            </a:pPr>
            <a:r>
              <a:rPr lang="en-US" sz="261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HAVING SUM(s.profit) &lt; 0;   </a:t>
            </a:r>
          </a:p>
          <a:p>
            <a:pPr marL="0" lvl="0" indent="0" algn="just">
              <a:lnSpc>
                <a:spcPts val="3667"/>
              </a:lnSpc>
              <a:spcBef>
                <a:spcPct val="0"/>
              </a:spcBef>
            </a:pPr>
            <a:endParaRPr lang="en-US" sz="2619" u="none" strike="noStrike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9DA3AB-C2B1-A85A-DBD9-8C4161F6A3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8" y="3105034"/>
            <a:ext cx="3211881" cy="3729048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4: CUSTOMERS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WITH &gt;5 ORDERS &amp; AOV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9702006" y="769049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2" y="0"/>
                </a:lnTo>
                <a:lnTo>
                  <a:pt x="1646432" y="2360475"/>
                </a:lnTo>
                <a:lnTo>
                  <a:pt x="0" y="2360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032" y="6836383"/>
            <a:ext cx="3912621" cy="2617305"/>
          </a:xfrm>
          <a:custGeom>
            <a:avLst/>
            <a:gdLst/>
            <a:ahLst/>
            <a:cxnLst/>
            <a:rect l="l" t="t" r="r" b="b"/>
            <a:pathLst>
              <a:path w="5667187" h="4592534">
                <a:moveTo>
                  <a:pt x="0" y="0"/>
                </a:moveTo>
                <a:lnTo>
                  <a:pt x="5667187" y="0"/>
                </a:lnTo>
                <a:lnTo>
                  <a:pt x="5667187" y="4592534"/>
                </a:lnTo>
                <a:lnTo>
                  <a:pt x="0" y="4592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976858" y="5822218"/>
            <a:ext cx="11311142" cy="542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14"/>
              </a:lnSpc>
            </a:pPr>
            <a:r>
              <a:rPr lang="en-US" sz="2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High-Frequency Customers &amp; Average Order Value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7831" y="6662534"/>
            <a:ext cx="9337573" cy="114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06"/>
              </a:lnSpc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Find customers with more than 5 orders and calculate their Average Order Value (AOV). Technique: JOINs, COUNT(DISTINCT order_id), SUM(sales) / COUNT(DISTINCT order_id). Insight: High-frequency customers with high AOV represent the most valuable segments — ideal targets for loyalty programs and premium upsell strategies.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15498834" y="389067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19" y="0"/>
                </a:moveTo>
                <a:lnTo>
                  <a:pt x="0" y="0"/>
                </a:lnTo>
                <a:lnTo>
                  <a:pt x="0" y="3243938"/>
                </a:lnTo>
                <a:lnTo>
                  <a:pt x="4255919" y="3243938"/>
                </a:lnTo>
                <a:lnTo>
                  <a:pt x="42559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1050" y="96766"/>
            <a:ext cx="9500210" cy="363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c.customer_id,c.customer_name ,        </a:t>
            </a:r>
          </a:p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COUNT(DISTINCT o.order_id ) AS total_order,      </a:t>
            </a:r>
          </a:p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SUM(s.sales) / COUNT(DISTINCT o.order_id) AS avg_order_value </a:t>
            </a:r>
          </a:p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customers c</a:t>
            </a:r>
          </a:p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orders o ON c.customer_id = o.customer_id </a:t>
            </a:r>
          </a:p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o.order_id = s.order_id     </a:t>
            </a:r>
          </a:p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c.customer_id,c.customer_name            </a:t>
            </a:r>
          </a:p>
          <a:p>
            <a:pPr marL="0" lvl="0" indent="0" algn="just">
              <a:lnSpc>
                <a:spcPts val="3628"/>
              </a:lnSpc>
              <a:spcBef>
                <a:spcPct val="0"/>
              </a:spcBef>
            </a:pPr>
            <a:r>
              <a:rPr lang="en-US" sz="2592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HAVING COUNT(DISTINCT o.order_id) &gt; 5;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082803-40C6-959E-6A2C-763B91F17B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9" y="3771900"/>
            <a:ext cx="4769070" cy="2731006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81797" y="3828084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5: CUSTOMER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RANKING BY SEGMENT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6507165"/>
            <a:ext cx="3750305" cy="3082439"/>
          </a:xfrm>
          <a:custGeom>
            <a:avLst/>
            <a:gdLst/>
            <a:ahLst/>
            <a:cxnLst/>
            <a:rect l="l" t="t" r="r" b="b"/>
            <a:pathLst>
              <a:path w="5667187" h="4592534">
                <a:moveTo>
                  <a:pt x="0" y="0"/>
                </a:moveTo>
                <a:lnTo>
                  <a:pt x="5667187" y="0"/>
                </a:lnTo>
                <a:lnTo>
                  <a:pt x="5667187" y="4592534"/>
                </a:lnTo>
                <a:lnTo>
                  <a:pt x="0" y="4592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41129" y="5888427"/>
            <a:ext cx="11546871" cy="573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46"/>
              </a:lnSpc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Window Function: RANK() Partitioned by Segment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7831" y="6672059"/>
            <a:ext cx="9337573" cy="128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Rank customers by total sales within their segment (Consumer, Corporate, Home Office) using SQL window functions.</a:t>
            </a:r>
          </a:p>
          <a:p>
            <a:pPr marL="0" lvl="0" indent="0" algn="just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Technique: RANK() OVER (PARTITION BY segment ORDER BY SUM(sales) DESC)</a:t>
            </a:r>
          </a:p>
          <a:p>
            <a:pPr marL="0" lvl="0" indent="0" algn="just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Highlights top-performing customers per segment, enabling targeted marketing, loyalty rewards, and personalized engagement strategies for each business segment.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6024352" y="1188411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20" y="0"/>
                </a:moveTo>
                <a:lnTo>
                  <a:pt x="0" y="0"/>
                </a:lnTo>
                <a:lnTo>
                  <a:pt x="0" y="3243937"/>
                </a:lnTo>
                <a:lnTo>
                  <a:pt x="4255920" y="3243937"/>
                </a:lnTo>
                <a:lnTo>
                  <a:pt x="425592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0788" y="-38100"/>
            <a:ext cx="11976458" cy="406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c.segment, c.customer_id,c.customer_name, 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SUM(s.sales) AS total_sales,                     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RANK() OVER(PARTITION BY c.segment ORDER BY SUM(s.sales) DESC) AS ranking 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customers c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orders o ON c.customer_id = o.customer_id 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o.order_id = s.order_id    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c.segment,c.customer_id,c.customer_name 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c.segment,ranking;                      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endParaRPr lang="en-US" sz="2554" u="none" strike="noStrike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97AF23-0E2D-208A-490E-28513DB9C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65" y="3654316"/>
            <a:ext cx="4869848" cy="2668848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229219"/>
            <a:ext cx="9900735" cy="3058314"/>
            <a:chOff x="0" y="0"/>
            <a:chExt cx="2607601" cy="805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7601" cy="805482"/>
            </a:xfrm>
            <a:custGeom>
              <a:avLst/>
              <a:gdLst/>
              <a:ahLst/>
              <a:cxnLst/>
              <a:rect l="l" t="t" r="r" b="b"/>
              <a:pathLst>
                <a:path w="2607601" h="805482">
                  <a:moveTo>
                    <a:pt x="39098" y="0"/>
                  </a:moveTo>
                  <a:lnTo>
                    <a:pt x="2568503" y="0"/>
                  </a:lnTo>
                  <a:cubicBezTo>
                    <a:pt x="2590097" y="0"/>
                    <a:pt x="2607601" y="17505"/>
                    <a:pt x="2607601" y="39098"/>
                  </a:cubicBezTo>
                  <a:lnTo>
                    <a:pt x="2607601" y="766384"/>
                  </a:lnTo>
                  <a:cubicBezTo>
                    <a:pt x="2607601" y="787977"/>
                    <a:pt x="2590097" y="805482"/>
                    <a:pt x="2568503" y="805482"/>
                  </a:cubicBezTo>
                  <a:lnTo>
                    <a:pt x="39098" y="805482"/>
                  </a:lnTo>
                  <a:cubicBezTo>
                    <a:pt x="17505" y="805482"/>
                    <a:pt x="0" y="787977"/>
                    <a:pt x="0" y="766384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07601" cy="843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157218" y="3924283"/>
            <a:ext cx="8791320" cy="4857204"/>
          </a:xfrm>
          <a:custGeom>
            <a:avLst/>
            <a:gdLst/>
            <a:ahLst/>
            <a:cxnLst/>
            <a:rect l="l" t="t" r="r" b="b"/>
            <a:pathLst>
              <a:path w="8791320" h="4857204">
                <a:moveTo>
                  <a:pt x="0" y="0"/>
                </a:moveTo>
                <a:lnTo>
                  <a:pt x="8791321" y="0"/>
                </a:lnTo>
                <a:lnTo>
                  <a:pt x="8791321" y="4857204"/>
                </a:lnTo>
                <a:lnTo>
                  <a:pt x="0" y="4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838311">
            <a:off x="16411279" y="868299"/>
            <a:ext cx="2290639" cy="4721839"/>
          </a:xfrm>
          <a:custGeom>
            <a:avLst/>
            <a:gdLst/>
            <a:ahLst/>
            <a:cxnLst/>
            <a:rect l="l" t="t" r="r" b="b"/>
            <a:pathLst>
              <a:path w="2290639" h="4721839">
                <a:moveTo>
                  <a:pt x="0" y="0"/>
                </a:moveTo>
                <a:lnTo>
                  <a:pt x="2290638" y="0"/>
                </a:lnTo>
                <a:lnTo>
                  <a:pt x="2290638" y="4721839"/>
                </a:lnTo>
                <a:lnTo>
                  <a:pt x="0" y="472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181100"/>
            <a:ext cx="13926768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SHIPPING &amp;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ANALYSIS</a:t>
            </a:r>
          </a:p>
        </p:txBody>
      </p:sp>
      <p:sp>
        <p:nvSpPr>
          <p:cNvPr id="14" name="Freeform 14"/>
          <p:cNvSpPr/>
          <p:nvPr/>
        </p:nvSpPr>
        <p:spPr>
          <a:xfrm rot="-4330008">
            <a:off x="12882801" y="698264"/>
            <a:ext cx="1551947" cy="2225014"/>
          </a:xfrm>
          <a:custGeom>
            <a:avLst/>
            <a:gdLst/>
            <a:ahLst/>
            <a:cxnLst/>
            <a:rect l="l" t="t" r="r" b="b"/>
            <a:pathLst>
              <a:path w="1551947" h="2225014">
                <a:moveTo>
                  <a:pt x="0" y="0"/>
                </a:moveTo>
                <a:lnTo>
                  <a:pt x="1551948" y="0"/>
                </a:lnTo>
                <a:lnTo>
                  <a:pt x="1551948" y="2225014"/>
                </a:lnTo>
                <a:lnTo>
                  <a:pt x="0" y="2225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6706372">
            <a:off x="1711459" y="6923795"/>
            <a:ext cx="1280517" cy="1835866"/>
          </a:xfrm>
          <a:custGeom>
            <a:avLst/>
            <a:gdLst/>
            <a:ahLst/>
            <a:cxnLst/>
            <a:rect l="l" t="t" r="r" b="b"/>
            <a:pathLst>
              <a:path w="1280517" h="1835866">
                <a:moveTo>
                  <a:pt x="0" y="0"/>
                </a:moveTo>
                <a:lnTo>
                  <a:pt x="1280517" y="0"/>
                </a:lnTo>
                <a:lnTo>
                  <a:pt x="1280517" y="1835866"/>
                </a:lnTo>
                <a:lnTo>
                  <a:pt x="0" y="1835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329353" y="6880824"/>
            <a:ext cx="3494494" cy="2865485"/>
          </a:xfrm>
          <a:custGeom>
            <a:avLst/>
            <a:gdLst/>
            <a:ahLst/>
            <a:cxnLst/>
            <a:rect l="l" t="t" r="r" b="b"/>
            <a:pathLst>
              <a:path w="3494494" h="2865485">
                <a:moveTo>
                  <a:pt x="0" y="0"/>
                </a:moveTo>
                <a:lnTo>
                  <a:pt x="3494495" y="0"/>
                </a:lnTo>
                <a:lnTo>
                  <a:pt x="3494495" y="2865486"/>
                </a:lnTo>
                <a:lnTo>
                  <a:pt x="0" y="28654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881757" y="6994617"/>
            <a:ext cx="3949118" cy="2918244"/>
          </a:xfrm>
          <a:custGeom>
            <a:avLst/>
            <a:gdLst/>
            <a:ahLst/>
            <a:cxnLst/>
            <a:rect l="l" t="t" r="r" b="b"/>
            <a:pathLst>
              <a:path w="3949118" h="2918244">
                <a:moveTo>
                  <a:pt x="0" y="0"/>
                </a:moveTo>
                <a:lnTo>
                  <a:pt x="3949117" y="0"/>
                </a:lnTo>
                <a:lnTo>
                  <a:pt x="3949117" y="2918244"/>
                </a:lnTo>
                <a:lnTo>
                  <a:pt x="0" y="29182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90644" y="3450573"/>
            <a:ext cx="13364824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2: Queries 6–11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0644" y="4205629"/>
            <a:ext cx="8776848" cy="175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Exploring delivery performance, shipping modes,</a:t>
            </a:r>
          </a:p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order patterns, and identifying delays</a:t>
            </a:r>
          </a:p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that impact customer satisfaction</a:t>
            </a:r>
          </a:p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 logistics efficiency.</a:t>
            </a:r>
          </a:p>
        </p:txBody>
      </p:sp>
    </p:spTree>
  </p:cSld>
  <p:clrMapOvr>
    <a:masterClrMapping/>
  </p:clrMapOvr>
  <p:transition spd="med" advClick="0" advTm="5000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6: AVG SHIPPING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TIME PER SHIP MODE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5245382" y="1015840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4" y="0"/>
                </a:lnTo>
                <a:lnTo>
                  <a:pt x="1468804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16557964" y="2532088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1" y="0"/>
                </a:lnTo>
                <a:lnTo>
                  <a:pt x="1646431" y="2360475"/>
                </a:lnTo>
                <a:lnTo>
                  <a:pt x="0" y="2360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95887" y="5917002"/>
            <a:ext cx="11592113" cy="494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86"/>
              </a:lnSpc>
            </a:pPr>
            <a:r>
              <a:rPr lang="en-US" sz="2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Calculate Average Shipping Days by Ship Mode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DATEDIFF() and GROUP BY, we calculate the average number of days from order to shipment for each ship mode. Results reveal that Same Day is fastest (~0 days), while Standard Class averages ~5 days. This insight guides logistics optimization and customer expectation management.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34700" y="7705612"/>
            <a:ext cx="3533732" cy="1603431"/>
          </a:xfrm>
          <a:custGeom>
            <a:avLst/>
            <a:gdLst/>
            <a:ahLst/>
            <a:cxnLst/>
            <a:rect l="l" t="t" r="r" b="b"/>
            <a:pathLst>
              <a:path w="3533732" h="1603431">
                <a:moveTo>
                  <a:pt x="0" y="0"/>
                </a:moveTo>
                <a:lnTo>
                  <a:pt x="3533732" y="0"/>
                </a:lnTo>
                <a:lnTo>
                  <a:pt x="3533732" y="1603431"/>
                </a:lnTo>
                <a:lnTo>
                  <a:pt x="0" y="1603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0" y="165889"/>
            <a:ext cx="11353800" cy="2268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o.ship_mode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AVG(DATEDIFF(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o.ship_date_clean,o.order_date_clean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))AS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avg_shiping_time</a:t>
            </a:r>
            <a:endParaRPr lang="en-US" sz="2554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orders o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o.ship_mode</a:t>
            </a:r>
            <a:endParaRPr lang="en-US" sz="2554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avg_shiping_time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29E690-EB15-CF90-DCB0-2A66F2A0F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02" y="3200671"/>
            <a:ext cx="4405967" cy="2230636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851073" y="5646574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7: SHIPPING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TIME PER ORDER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16063389" y="471613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1" y="0"/>
                </a:lnTo>
                <a:lnTo>
                  <a:pt x="1646431" y="2360476"/>
                </a:lnTo>
                <a:lnTo>
                  <a:pt x="0" y="2360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12523" y="6224717"/>
            <a:ext cx="5714737" cy="3258508"/>
          </a:xfrm>
          <a:custGeom>
            <a:avLst/>
            <a:gdLst/>
            <a:ahLst/>
            <a:cxnLst/>
            <a:rect l="l" t="t" r="r" b="b"/>
            <a:pathLst>
              <a:path w="6292532" h="4593548">
                <a:moveTo>
                  <a:pt x="0" y="0"/>
                </a:moveTo>
                <a:lnTo>
                  <a:pt x="6292532" y="0"/>
                </a:lnTo>
                <a:lnTo>
                  <a:pt x="6292532" y="4593549"/>
                </a:lnTo>
                <a:lnTo>
                  <a:pt x="0" y="4593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858000" y="5840240"/>
            <a:ext cx="11143912" cy="557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40"/>
              </a:lnSpc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List Shipping Time for Every Single Order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Technique: DATEDIFF(ship_date, order_date) combined with ORDER BY to rank orders by delivery duration. Insight: Orders with exceptionally long shipping times are flagged for review, enabling proactive customer service intervention and logistics improvement.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387130" y="2475425"/>
            <a:ext cx="4023565" cy="2741054"/>
          </a:xfrm>
          <a:custGeom>
            <a:avLst/>
            <a:gdLst/>
            <a:ahLst/>
            <a:cxnLst/>
            <a:rect l="l" t="t" r="r" b="b"/>
            <a:pathLst>
              <a:path w="4023565" h="2741054">
                <a:moveTo>
                  <a:pt x="0" y="0"/>
                </a:moveTo>
                <a:lnTo>
                  <a:pt x="4023565" y="0"/>
                </a:lnTo>
                <a:lnTo>
                  <a:pt x="4023565" y="2741053"/>
                </a:lnTo>
                <a:lnTo>
                  <a:pt x="0" y="2741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45936"/>
            <a:ext cx="11130780" cy="190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21"/>
              </a:lnSpc>
              <a:spcBef>
                <a:spcPct val="0"/>
              </a:spcBef>
            </a:pPr>
            <a:r>
              <a:rPr lang="en-US" sz="27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o.order_id,o.customer_id,o.ship_mode,</a:t>
            </a:r>
          </a:p>
          <a:p>
            <a:pPr marL="0" lvl="0" indent="0" algn="just">
              <a:lnSpc>
                <a:spcPts val="3821"/>
              </a:lnSpc>
              <a:spcBef>
                <a:spcPct val="0"/>
              </a:spcBef>
            </a:pPr>
            <a:r>
              <a:rPr lang="en-US" sz="27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DATEDIFF(o.ship_date_clean, o.order_date_clean) AS shipping_days</a:t>
            </a:r>
          </a:p>
          <a:p>
            <a:pPr marL="0" lvl="0" indent="0" algn="just">
              <a:lnSpc>
                <a:spcPts val="3821"/>
              </a:lnSpc>
              <a:spcBef>
                <a:spcPct val="0"/>
              </a:spcBef>
            </a:pPr>
            <a:r>
              <a:rPr lang="en-US" sz="27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orders o</a:t>
            </a:r>
          </a:p>
          <a:p>
            <a:pPr marL="0" lvl="0" indent="0" algn="just">
              <a:lnSpc>
                <a:spcPts val="3821"/>
              </a:lnSpc>
              <a:spcBef>
                <a:spcPct val="0"/>
              </a:spcBef>
            </a:pPr>
            <a:r>
              <a:rPr lang="en-US" sz="27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shipping_days DESC;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8DE030-3CF3-D74D-DEEA-54CB16E2CC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50" y="2195221"/>
            <a:ext cx="5290283" cy="3021258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086600" y="5571116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8: ORDERS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SHIPPING TIME &gt; 10 DAYS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3309945" y="966591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49569" y="6133465"/>
            <a:ext cx="3852075" cy="3525880"/>
          </a:xfrm>
          <a:custGeom>
            <a:avLst/>
            <a:gdLst/>
            <a:ahLst/>
            <a:cxnLst/>
            <a:rect l="l" t="t" r="r" b="b"/>
            <a:pathLst>
              <a:path w="5667187" h="5305904">
                <a:moveTo>
                  <a:pt x="0" y="0"/>
                </a:moveTo>
                <a:lnTo>
                  <a:pt x="5667188" y="0"/>
                </a:lnTo>
                <a:lnTo>
                  <a:pt x="5667188" y="5305904"/>
                </a:lnTo>
                <a:lnTo>
                  <a:pt x="0" y="5305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257831" y="5907477"/>
            <a:ext cx="11662985" cy="451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9"/>
              </a:lnSpc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Pinpoint Delayed Deliveries Impacting Satisfaction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 all orders where shipping time exceeded 10 days. Uses DATEDIFF() to calculate delivery duration and filters with WHERE clause. Insight: These delayed orders flag critical fulfillment gaps — high shipping times directly correlate with lower customer satisfaction and potential churn risk.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114234" y="2019496"/>
            <a:ext cx="4255920" cy="3452615"/>
          </a:xfrm>
          <a:custGeom>
            <a:avLst/>
            <a:gdLst/>
            <a:ahLst/>
            <a:cxnLst/>
            <a:rect l="l" t="t" r="r" b="b"/>
            <a:pathLst>
              <a:path w="4255920" h="3452615">
                <a:moveTo>
                  <a:pt x="0" y="0"/>
                </a:moveTo>
                <a:lnTo>
                  <a:pt x="4255920" y="0"/>
                </a:lnTo>
                <a:lnTo>
                  <a:pt x="4255920" y="3452615"/>
                </a:lnTo>
                <a:lnTo>
                  <a:pt x="0" y="3452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0" y="116640"/>
            <a:ext cx="12104754" cy="223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o.order_id,o.customer_id,o.state,o.city,o.region,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DATEDIFF(o.ship_date_clean, o.order_date_clean) AS shipping_days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orders o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WHERE DATEDIFF(o.ship_date_clean, o.order_date_clean) &gt; 10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shipping_days DESC;t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592BA32-8113-D12D-2695-01D8EDD28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3" y="2561955"/>
            <a:ext cx="6522374" cy="2984916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4916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9: MOST COMMON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SHIP MODE PER REGION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16063389" y="-151538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1" y="0"/>
                </a:lnTo>
                <a:lnTo>
                  <a:pt x="1646431" y="2360476"/>
                </a:lnTo>
                <a:lnTo>
                  <a:pt x="0" y="2360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14325" y="6038059"/>
            <a:ext cx="4410075" cy="3722896"/>
          </a:xfrm>
          <a:custGeom>
            <a:avLst/>
            <a:gdLst/>
            <a:ahLst/>
            <a:cxnLst/>
            <a:rect l="l" t="t" r="r" b="b"/>
            <a:pathLst>
              <a:path w="5667187" h="4592534">
                <a:moveTo>
                  <a:pt x="0" y="0"/>
                </a:moveTo>
                <a:lnTo>
                  <a:pt x="5667187" y="0"/>
                </a:lnTo>
                <a:lnTo>
                  <a:pt x="5667187" y="4592534"/>
                </a:lnTo>
                <a:lnTo>
                  <a:pt x="0" y="4592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Regional Shipping Preferences Identified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7831" y="6681584"/>
            <a:ext cx="9337573" cy="104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Identify the preferred shipping mode in each region using COUNT() and RANK() window function partitioned by region.</a:t>
            </a:r>
          </a:p>
          <a:p>
            <a:pPr marL="0" lvl="0" indent="0" algn="just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Technique: RANK() OVER (PARTITION BY region ORDER BY COUNT(*) DESC) to surface the top ship mode per region.</a:t>
            </a:r>
          </a:p>
          <a:p>
            <a:pPr marL="0" lvl="0" indent="0" algn="just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Regional shipping preferences vary — Standard Class dominates most regions, while some regions show higher reliance on Second Class or First Class. These patterns inform localized logistics planning and cost optimization strategies.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0" y="-32108"/>
            <a:ext cx="10112455" cy="42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region,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ship_mode</a:t>
            </a: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order_count</a:t>
            </a:r>
            <a:endParaRPr lang="en-US" sz="2454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(</a:t>
            </a: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SELECT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o.region,o.ship_mode</a:t>
            </a: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COUNT(*) AS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order_count</a:t>
            </a: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RANK() OVER (PARTITION BY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o.region</a:t>
            </a: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ORDER BY COUNT(*) DESC) AS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rnk</a:t>
            </a:r>
            <a:endParaRPr lang="en-US" sz="2454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FROM orders o</a:t>
            </a: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GROUP BY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o.region</a:t>
            </a: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o.ship_mode</a:t>
            </a:r>
            <a:endParaRPr lang="en-US" sz="2454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ranked</a:t>
            </a: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WHERE </a:t>
            </a:r>
            <a:r>
              <a:rPr lang="en-US" sz="24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rnk</a:t>
            </a: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= 1</a:t>
            </a:r>
          </a:p>
          <a:p>
            <a:pPr marL="0" lvl="0" indent="0" algn="just">
              <a:lnSpc>
                <a:spcPts val="3436"/>
              </a:lnSpc>
              <a:spcBef>
                <a:spcPct val="0"/>
              </a:spcBef>
            </a:pPr>
            <a:r>
              <a:rPr lang="en-US" sz="24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region;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1B5066D-4BA8-2277-D5B6-FEA8CFF94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03" y="3693562"/>
            <a:ext cx="3900873" cy="1818452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430" y="4993944"/>
            <a:ext cx="8477268" cy="3244459"/>
            <a:chOff x="0" y="0"/>
            <a:chExt cx="2232696" cy="8545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2696" cy="854508"/>
            </a:xfrm>
            <a:custGeom>
              <a:avLst/>
              <a:gdLst/>
              <a:ahLst/>
              <a:cxnLst/>
              <a:rect l="l" t="t" r="r" b="b"/>
              <a:pathLst>
                <a:path w="2232696" h="854508">
                  <a:moveTo>
                    <a:pt x="45663" y="0"/>
                  </a:moveTo>
                  <a:lnTo>
                    <a:pt x="2187033" y="0"/>
                  </a:lnTo>
                  <a:cubicBezTo>
                    <a:pt x="2199144" y="0"/>
                    <a:pt x="2210758" y="4811"/>
                    <a:pt x="2219322" y="13374"/>
                  </a:cubicBezTo>
                  <a:cubicBezTo>
                    <a:pt x="2227885" y="21938"/>
                    <a:pt x="2232696" y="33552"/>
                    <a:pt x="2232696" y="45663"/>
                  </a:cubicBezTo>
                  <a:lnTo>
                    <a:pt x="2232696" y="808845"/>
                  </a:lnTo>
                  <a:cubicBezTo>
                    <a:pt x="2232696" y="820956"/>
                    <a:pt x="2227885" y="832570"/>
                    <a:pt x="2219322" y="841133"/>
                  </a:cubicBezTo>
                  <a:cubicBezTo>
                    <a:pt x="2210758" y="849697"/>
                    <a:pt x="2199144" y="854508"/>
                    <a:pt x="2187033" y="854508"/>
                  </a:cubicBezTo>
                  <a:lnTo>
                    <a:pt x="45663" y="854508"/>
                  </a:lnTo>
                  <a:cubicBezTo>
                    <a:pt x="33552" y="854508"/>
                    <a:pt x="21938" y="849697"/>
                    <a:pt x="13374" y="841133"/>
                  </a:cubicBezTo>
                  <a:cubicBezTo>
                    <a:pt x="4811" y="832570"/>
                    <a:pt x="0" y="820956"/>
                    <a:pt x="0" y="808845"/>
                  </a:cubicBezTo>
                  <a:lnTo>
                    <a:pt x="0" y="45663"/>
                  </a:lnTo>
                  <a:cubicBezTo>
                    <a:pt x="0" y="33552"/>
                    <a:pt x="4811" y="21938"/>
                    <a:pt x="13374" y="13374"/>
                  </a:cubicBezTo>
                  <a:cubicBezTo>
                    <a:pt x="21938" y="4811"/>
                    <a:pt x="33552" y="0"/>
                    <a:pt x="4566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32696" cy="892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3237685"/>
            <a:ext cx="13926768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10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MONTHLY ORDER COUNTS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0972" y="5265774"/>
            <a:ext cx="13364824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Tracking Order Volume: 2014–2017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0972" y="6241198"/>
            <a:ext cx="7514966" cy="172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64"/>
              </a:lnSpc>
            </a:pPr>
            <a:r>
              <a:rPr lang="en-US" sz="19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SQL: YEAR(), MONTH(), GROUP BY order date to aggregate monthly volumes. Seasonal peaks in Q4 (Nov–Dec) and mid-year surges reveal demand cycles. Year-over-year growth visible across all months, supporting accurate demand forecasting and inventory planning.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47478" y="893863"/>
            <a:ext cx="2219676" cy="1473942"/>
          </a:xfrm>
          <a:custGeom>
            <a:avLst/>
            <a:gdLst/>
            <a:ahLst/>
            <a:cxnLst/>
            <a:rect l="l" t="t" r="r" b="b"/>
            <a:pathLst>
              <a:path w="2219676" h="1473942">
                <a:moveTo>
                  <a:pt x="0" y="0"/>
                </a:moveTo>
                <a:lnTo>
                  <a:pt x="2219675" y="0"/>
                </a:lnTo>
                <a:lnTo>
                  <a:pt x="2219675" y="1473941"/>
                </a:lnTo>
                <a:lnTo>
                  <a:pt x="0" y="1473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3143296" y="693639"/>
            <a:ext cx="1314030" cy="1883914"/>
          </a:xfrm>
          <a:custGeom>
            <a:avLst/>
            <a:gdLst/>
            <a:ahLst/>
            <a:cxnLst/>
            <a:rect l="l" t="t" r="r" b="b"/>
            <a:pathLst>
              <a:path w="1314030" h="1883914">
                <a:moveTo>
                  <a:pt x="0" y="0"/>
                </a:moveTo>
                <a:lnTo>
                  <a:pt x="1314030" y="0"/>
                </a:lnTo>
                <a:lnTo>
                  <a:pt x="1314030" y="1883914"/>
                </a:lnTo>
                <a:lnTo>
                  <a:pt x="0" y="1883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330224" y="44028"/>
            <a:ext cx="9957776" cy="312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YEAR(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o.order_date_clean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AS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order_year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MONTH(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o.order_date_clean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AS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order_month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COUNT(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o.order_id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AS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total_order</a:t>
            </a:r>
            <a:endParaRPr lang="en-US" sz="2554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orders o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WHERE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o.order_date_clean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BETWEEN '2014-01-01' AND '2017-12-31'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YEAR(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o.order_date_clean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),MONTH(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o.order_date_clean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</a:t>
            </a:r>
            <a:r>
              <a:rPr lang="en-US" sz="2554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order_year,order_month</a:t>
            </a:r>
            <a:r>
              <a:rPr lang="en-US" sz="2554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9957C5-E91A-0D41-098B-5F9306DD32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776" y="3695700"/>
            <a:ext cx="5664604" cy="5453237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593411" y="5719760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696214" y="3712540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HIGH SALES,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NEGATIVE PROFIT ORDERS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4153346" y="692513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6507165"/>
            <a:ext cx="3912621" cy="3082439"/>
          </a:xfrm>
          <a:custGeom>
            <a:avLst/>
            <a:gdLst/>
            <a:ahLst/>
            <a:cxnLst/>
            <a:rect l="l" t="t" r="r" b="b"/>
            <a:pathLst>
              <a:path w="4264788" h="3456068">
                <a:moveTo>
                  <a:pt x="0" y="0"/>
                </a:moveTo>
                <a:lnTo>
                  <a:pt x="4264788" y="0"/>
                </a:lnTo>
                <a:lnTo>
                  <a:pt x="4264788" y="3456068"/>
                </a:lnTo>
                <a:lnTo>
                  <a:pt x="0" y="3456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96214" y="5752109"/>
            <a:ext cx="10591786" cy="566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46"/>
              </a:lnSpc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Query 11 — Costly Orders Requiring Pricing Review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19269" y="6676957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Identify orders with sales &gt; $1,000 but negative profit. Technique: WHERE sales &gt; 1000 AND profit &lt; 0. Insight: High-revenue orders with negative margins reveal excessive discounting, high shipping costs, or pricing errors — flagged for immediate cost and pricing strategy review.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14919335" y="22641"/>
            <a:ext cx="3401630" cy="27486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19" y="0"/>
                </a:moveTo>
                <a:lnTo>
                  <a:pt x="0" y="0"/>
                </a:lnTo>
                <a:lnTo>
                  <a:pt x="0" y="3243938"/>
                </a:lnTo>
                <a:lnTo>
                  <a:pt x="4255919" y="3243938"/>
                </a:lnTo>
                <a:lnTo>
                  <a:pt x="42559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0" y="-16489"/>
            <a:ext cx="9893141" cy="357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o.order_id,o.order_date_clean,o.customer_id,o.city,o.state,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SUM(s.sales) AS total_sales,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SUM(s.profit) AS total_profit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orders o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 sales s ON o.order_id = s.order_id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o.order_id,o.order_date_clean,o.customer_id,o.city,o.state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HAVING SUM(s.sales) &gt; 1000 AND SUM(s.profit) &lt;0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total_sales DESC;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D372A5-ED1B-60EC-ABB1-712036192E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7" y="3679356"/>
            <a:ext cx="6797162" cy="2653237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229219"/>
            <a:ext cx="9900735" cy="3058314"/>
            <a:chOff x="0" y="0"/>
            <a:chExt cx="2607601" cy="805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7601" cy="805482"/>
            </a:xfrm>
            <a:custGeom>
              <a:avLst/>
              <a:gdLst/>
              <a:ahLst/>
              <a:cxnLst/>
              <a:rect l="l" t="t" r="r" b="b"/>
              <a:pathLst>
                <a:path w="2607601" h="805482">
                  <a:moveTo>
                    <a:pt x="39098" y="0"/>
                  </a:moveTo>
                  <a:lnTo>
                    <a:pt x="2568503" y="0"/>
                  </a:lnTo>
                  <a:cubicBezTo>
                    <a:pt x="2590097" y="0"/>
                    <a:pt x="2607601" y="17505"/>
                    <a:pt x="2607601" y="39098"/>
                  </a:cubicBezTo>
                  <a:lnTo>
                    <a:pt x="2607601" y="766384"/>
                  </a:lnTo>
                  <a:cubicBezTo>
                    <a:pt x="2607601" y="787977"/>
                    <a:pt x="2590097" y="805482"/>
                    <a:pt x="2568503" y="805482"/>
                  </a:cubicBezTo>
                  <a:lnTo>
                    <a:pt x="39098" y="805482"/>
                  </a:lnTo>
                  <a:cubicBezTo>
                    <a:pt x="17505" y="805482"/>
                    <a:pt x="0" y="787977"/>
                    <a:pt x="0" y="766384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07601" cy="843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253296" y="4354938"/>
            <a:ext cx="7027806" cy="4664706"/>
          </a:xfrm>
          <a:custGeom>
            <a:avLst/>
            <a:gdLst/>
            <a:ahLst/>
            <a:cxnLst/>
            <a:rect l="l" t="t" r="r" b="b"/>
            <a:pathLst>
              <a:path w="7027806" h="4664706">
                <a:moveTo>
                  <a:pt x="0" y="0"/>
                </a:moveTo>
                <a:lnTo>
                  <a:pt x="7027806" y="0"/>
                </a:lnTo>
                <a:lnTo>
                  <a:pt x="7027806" y="4664707"/>
                </a:lnTo>
                <a:lnTo>
                  <a:pt x="0" y="466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838311">
            <a:off x="16411279" y="868299"/>
            <a:ext cx="2290639" cy="4721839"/>
          </a:xfrm>
          <a:custGeom>
            <a:avLst/>
            <a:gdLst/>
            <a:ahLst/>
            <a:cxnLst/>
            <a:rect l="l" t="t" r="r" b="b"/>
            <a:pathLst>
              <a:path w="2290639" h="4721839">
                <a:moveTo>
                  <a:pt x="0" y="0"/>
                </a:moveTo>
                <a:lnTo>
                  <a:pt x="2290638" y="0"/>
                </a:lnTo>
                <a:lnTo>
                  <a:pt x="2290638" y="4721839"/>
                </a:lnTo>
                <a:lnTo>
                  <a:pt x="0" y="472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181100"/>
            <a:ext cx="13926768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PRODUCT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PERFORMANCE</a:t>
            </a:r>
          </a:p>
        </p:txBody>
      </p:sp>
      <p:sp>
        <p:nvSpPr>
          <p:cNvPr id="14" name="Freeform 14"/>
          <p:cNvSpPr/>
          <p:nvPr/>
        </p:nvSpPr>
        <p:spPr>
          <a:xfrm rot="-4330008">
            <a:off x="12882801" y="698264"/>
            <a:ext cx="1551947" cy="2225014"/>
          </a:xfrm>
          <a:custGeom>
            <a:avLst/>
            <a:gdLst/>
            <a:ahLst/>
            <a:cxnLst/>
            <a:rect l="l" t="t" r="r" b="b"/>
            <a:pathLst>
              <a:path w="1551947" h="2225014">
                <a:moveTo>
                  <a:pt x="0" y="0"/>
                </a:moveTo>
                <a:lnTo>
                  <a:pt x="1551948" y="0"/>
                </a:lnTo>
                <a:lnTo>
                  <a:pt x="1551948" y="2225014"/>
                </a:lnTo>
                <a:lnTo>
                  <a:pt x="0" y="2225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6706372">
            <a:off x="1711459" y="6923795"/>
            <a:ext cx="1280517" cy="1835866"/>
          </a:xfrm>
          <a:custGeom>
            <a:avLst/>
            <a:gdLst/>
            <a:ahLst/>
            <a:cxnLst/>
            <a:rect l="l" t="t" r="r" b="b"/>
            <a:pathLst>
              <a:path w="1280517" h="1835866">
                <a:moveTo>
                  <a:pt x="0" y="0"/>
                </a:moveTo>
                <a:lnTo>
                  <a:pt x="1280517" y="0"/>
                </a:lnTo>
                <a:lnTo>
                  <a:pt x="1280517" y="1835866"/>
                </a:lnTo>
                <a:lnTo>
                  <a:pt x="0" y="1835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931359" y="6464869"/>
            <a:ext cx="3553440" cy="3815938"/>
          </a:xfrm>
          <a:custGeom>
            <a:avLst/>
            <a:gdLst/>
            <a:ahLst/>
            <a:cxnLst/>
            <a:rect l="l" t="t" r="r" b="b"/>
            <a:pathLst>
              <a:path w="3553440" h="3815938">
                <a:moveTo>
                  <a:pt x="0" y="0"/>
                </a:moveTo>
                <a:lnTo>
                  <a:pt x="3553440" y="0"/>
                </a:lnTo>
                <a:lnTo>
                  <a:pt x="3553440" y="3815938"/>
                </a:lnTo>
                <a:lnTo>
                  <a:pt x="0" y="3815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051938" y="6567088"/>
            <a:ext cx="3563966" cy="3461502"/>
          </a:xfrm>
          <a:custGeom>
            <a:avLst/>
            <a:gdLst/>
            <a:ahLst/>
            <a:cxnLst/>
            <a:rect l="l" t="t" r="r" b="b"/>
            <a:pathLst>
              <a:path w="3563966" h="3461502">
                <a:moveTo>
                  <a:pt x="0" y="0"/>
                </a:moveTo>
                <a:lnTo>
                  <a:pt x="3563966" y="0"/>
                </a:lnTo>
                <a:lnTo>
                  <a:pt x="3563966" y="3461502"/>
                </a:lnTo>
                <a:lnTo>
                  <a:pt x="0" y="34615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90644" y="3450573"/>
            <a:ext cx="13364824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Queries 12 – 17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0644" y="4196104"/>
            <a:ext cx="8776848" cy="132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Analyzing profitability, discounts, and product popularity across categories, subcategories, and regions.</a:t>
            </a:r>
          </a:p>
        </p:txBody>
      </p:sp>
    </p:spTree>
  </p:cSld>
  <p:clrMapOvr>
    <a:masterClrMapping/>
  </p:clrMapOvr>
  <p:transition spd="med" advClick="0" advTm="500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12: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TOP 5 PRODUCTS BY PROFIT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17197830" y="22035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1" y="0"/>
                </a:lnTo>
                <a:lnTo>
                  <a:pt x="1646431" y="2360475"/>
                </a:lnTo>
                <a:lnTo>
                  <a:pt x="0" y="2360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8701" y="6896100"/>
            <a:ext cx="3771900" cy="2693505"/>
          </a:xfrm>
          <a:custGeom>
            <a:avLst/>
            <a:gdLst/>
            <a:ahLst/>
            <a:cxnLst/>
            <a:rect l="l" t="t" r="r" b="b"/>
            <a:pathLst>
              <a:path w="4437961" h="3596403">
                <a:moveTo>
                  <a:pt x="0" y="0"/>
                </a:moveTo>
                <a:lnTo>
                  <a:pt x="4437961" y="0"/>
                </a:lnTo>
                <a:lnTo>
                  <a:pt x="4437961" y="3596403"/>
                </a:lnTo>
                <a:lnTo>
                  <a:pt x="0" y="3596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858000" y="5804901"/>
            <a:ext cx="11592113" cy="610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Identify the Most Profitable Products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7831" y="6672059"/>
            <a:ext cx="9337573" cy="110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6"/>
              </a:lnSpc>
            </a:pPr>
            <a:r>
              <a:rPr lang="en-US" sz="15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Technique: GROUP BY product name, SUM(profit) aggregation, ORDER BY DESC with LIMIT 5.</a:t>
            </a:r>
          </a:p>
          <a:p>
            <a:pPr marL="0" lvl="0" indent="0" algn="just">
              <a:lnSpc>
                <a:spcPts val="2196"/>
              </a:lnSpc>
            </a:pPr>
            <a:r>
              <a:rPr lang="en-US" sz="15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Star products driving the highest profits are revealed — these high-margin items deserve priority in inventory planning, marketing spend, and supply chain focus to maximize overall business profitability.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15173895" y="575528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19" y="0"/>
                </a:moveTo>
                <a:lnTo>
                  <a:pt x="0" y="0"/>
                </a:lnTo>
                <a:lnTo>
                  <a:pt x="0" y="3243938"/>
                </a:lnTo>
                <a:lnTo>
                  <a:pt x="4255919" y="3243938"/>
                </a:lnTo>
                <a:lnTo>
                  <a:pt x="42559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25573"/>
            <a:ext cx="7328178" cy="312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p.product_id,p.category,p.product_name,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SUM(s.profit) AS total_profit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 sales s ON p.product_id = s.product_id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p.product_id,p.category,p.product_name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total_profit DESC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LIMIT 5;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0F3763-C9D7-8B69-597B-A4C86F01D0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137"/>
            <a:ext cx="6508963" cy="2237936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996281" y="5619965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77925" y="3962014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LEAST PROFITABLE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CATEGORY PER REGION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6123065" y="301465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45352" y="7481075"/>
            <a:ext cx="2856702" cy="2078486"/>
          </a:xfrm>
          <a:custGeom>
            <a:avLst/>
            <a:gdLst/>
            <a:ahLst/>
            <a:cxnLst/>
            <a:rect l="l" t="t" r="r" b="b"/>
            <a:pathLst>
              <a:path w="3385550" h="2738063">
                <a:moveTo>
                  <a:pt x="0" y="0"/>
                </a:moveTo>
                <a:lnTo>
                  <a:pt x="3385549" y="0"/>
                </a:lnTo>
                <a:lnTo>
                  <a:pt x="3385549" y="2738063"/>
                </a:lnTo>
                <a:lnTo>
                  <a:pt x="0" y="2738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257831" y="5888427"/>
            <a:ext cx="11030169" cy="57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Query 13: Regional Category Profitability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7831" y="6672059"/>
            <a:ext cx="9337573" cy="128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50"/>
              </a:lnSpc>
            </a:pP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Identify product categories with the lowest profit in each geographic region.</a:t>
            </a:r>
          </a:p>
          <a:p>
            <a:pPr marL="0" lvl="0" indent="0" algn="just">
              <a:lnSpc>
                <a:spcPts val="2050"/>
              </a:lnSpc>
            </a:pP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Technique: Window function RANK() OVER (PARTITION BY region ORDER BY SUM(profit) ASC) to rank categories ascending by profit.</a:t>
            </a:r>
          </a:p>
          <a:p>
            <a:pPr marL="0" lvl="0" indent="0" algn="just">
              <a:lnSpc>
                <a:spcPts val="2050"/>
              </a:lnSpc>
            </a:pPr>
            <a:r>
              <a:rPr lang="en-US" sz="14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Reveals underperforming categories per region — guiding decisions on discontinuation, repricing, or targeted improvement strategies.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913038" y="1096689"/>
            <a:ext cx="4255920" cy="3777129"/>
          </a:xfrm>
          <a:custGeom>
            <a:avLst/>
            <a:gdLst/>
            <a:ahLst/>
            <a:cxnLst/>
            <a:rect l="l" t="t" r="r" b="b"/>
            <a:pathLst>
              <a:path w="4255920" h="3777129">
                <a:moveTo>
                  <a:pt x="0" y="0"/>
                </a:moveTo>
                <a:lnTo>
                  <a:pt x="4255919" y="0"/>
                </a:lnTo>
                <a:lnTo>
                  <a:pt x="4255919" y="3777129"/>
                </a:lnTo>
                <a:lnTo>
                  <a:pt x="0" y="37771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26477" y="-44694"/>
            <a:ext cx="10033517" cy="357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o.region,p.category,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SUM(s.profit) AS total_profit,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RANK() OVER (PARTITION BY o.region ORDER BY SUM(s.profit)) AS rnk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LEFT JOIN sales s ON p.product_id = s.product_id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LEFT JOIN orders o ON s.order_id = o.order_id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o.region, p.category</a:t>
            </a:r>
          </a:p>
          <a:p>
            <a:pPr marL="0" lvl="0" indent="0" algn="just">
              <a:lnSpc>
                <a:spcPts val="3576"/>
              </a:lnSpc>
              <a:spcBef>
                <a:spcPct val="0"/>
              </a:spcBef>
            </a:pPr>
            <a:r>
              <a:rPr lang="en-US" sz="2554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o.region, rnk;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6D46E9-FEE1-C88D-B5A2-DD8316EABC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93" y="4308725"/>
            <a:ext cx="4325334" cy="2570864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14: AVERAGE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DISCOUNT BY SUBCATEGORY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16063389" y="-269176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1" y="0"/>
                </a:lnTo>
                <a:lnTo>
                  <a:pt x="1646431" y="2360475"/>
                </a:lnTo>
                <a:lnTo>
                  <a:pt x="0" y="2360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5524" y="5888427"/>
            <a:ext cx="3818884" cy="3546028"/>
          </a:xfrm>
          <a:custGeom>
            <a:avLst/>
            <a:gdLst/>
            <a:ahLst/>
            <a:cxnLst/>
            <a:rect l="l" t="t" r="r" b="b"/>
            <a:pathLst>
              <a:path w="4345599" h="4152339">
                <a:moveTo>
                  <a:pt x="0" y="0"/>
                </a:moveTo>
                <a:lnTo>
                  <a:pt x="4345599" y="0"/>
                </a:lnTo>
                <a:lnTo>
                  <a:pt x="4345599" y="4152338"/>
                </a:lnTo>
                <a:lnTo>
                  <a:pt x="0" y="415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&amp; SQL Technique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Calculate the average discount applied to each product subcategory. Uses GROUP BY with AVG(discount) to reveal how discounting strategies differ across subcategories — and how these variations directly impact profit margins and overall sales performance.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4981320" y="1495723"/>
            <a:ext cx="4555960" cy="2875950"/>
          </a:xfrm>
          <a:custGeom>
            <a:avLst/>
            <a:gdLst/>
            <a:ahLst/>
            <a:cxnLst/>
            <a:rect l="l" t="t" r="r" b="b"/>
            <a:pathLst>
              <a:path w="4555960" h="2875950">
                <a:moveTo>
                  <a:pt x="0" y="0"/>
                </a:moveTo>
                <a:lnTo>
                  <a:pt x="4555960" y="0"/>
                </a:lnTo>
                <a:lnTo>
                  <a:pt x="4555960" y="2875950"/>
                </a:lnTo>
                <a:lnTo>
                  <a:pt x="0" y="2875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-57150"/>
            <a:ext cx="7813732" cy="229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p.sub_category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ROUND(AVG(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s.discount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),2) AS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avg_discount</a:t>
            </a:r>
            <a:endParaRPr lang="en-US" sz="2629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p.product_id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=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s.product_id</a:t>
            </a:r>
            <a:endParaRPr lang="en-US" sz="2629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p.sub_category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8B7DF2-33D2-462B-114F-72D0E12B6B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85" y="2368026"/>
            <a:ext cx="3685992" cy="3154386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4065493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15: PRODUCTS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SOLD IN ALL REGIONS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58778" y="7575161"/>
            <a:ext cx="4342866" cy="2984916"/>
          </a:xfrm>
          <a:custGeom>
            <a:avLst/>
            <a:gdLst/>
            <a:ahLst/>
            <a:cxnLst/>
            <a:rect l="l" t="t" r="r" b="b"/>
            <a:pathLst>
              <a:path w="4708986" h="3472877">
                <a:moveTo>
                  <a:pt x="0" y="0"/>
                </a:moveTo>
                <a:lnTo>
                  <a:pt x="4708986" y="0"/>
                </a:lnTo>
                <a:lnTo>
                  <a:pt x="4708986" y="3472877"/>
                </a:lnTo>
                <a:lnTo>
                  <a:pt x="0" y="3472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Products with Broad Market Appeal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Identify products sold in every geographic region. SQL Technique: GROUP BY product, HAVING COUNT(DISTINCT region) = 4. Insight: These core products demonstrate universal market appeal and should be prioritized for inventory, promotions, and supply chain reliability across all regions.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537979" y="1224217"/>
            <a:ext cx="4113212" cy="4767587"/>
          </a:xfrm>
          <a:custGeom>
            <a:avLst/>
            <a:gdLst/>
            <a:ahLst/>
            <a:cxnLst/>
            <a:rect l="l" t="t" r="r" b="b"/>
            <a:pathLst>
              <a:path w="4113212" h="4767587">
                <a:moveTo>
                  <a:pt x="0" y="0"/>
                </a:moveTo>
                <a:lnTo>
                  <a:pt x="4113212" y="0"/>
                </a:lnTo>
                <a:lnTo>
                  <a:pt x="4113212" y="4767586"/>
                </a:lnTo>
                <a:lnTo>
                  <a:pt x="0" y="4767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0" y="159470"/>
            <a:ext cx="7700397" cy="372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p.product_id,p.product_name,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COUNT(DISTINCT o.region) AS Region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p.product_id = s.product_id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orders o ON o.order_id = s.order_id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p.product_id,p.product_name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HAVING COUNT(DISTINCT o.region) = 4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p.product_name;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3FDE22E-1B8F-4D1C-7CA5-D728284680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3" y="4136475"/>
            <a:ext cx="5568744" cy="2984916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19657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091424" y="3871930"/>
            <a:ext cx="11592113" cy="179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16: MOST</a:t>
            </a:r>
          </a:p>
          <a:p>
            <a:pPr marL="0" lvl="0" indent="0" algn="l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FREQUENTLY ORDERED</a:t>
            </a:r>
          </a:p>
          <a:p>
            <a:pPr marL="0" lvl="0" indent="0" algn="l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PRODUCT PER CATEGORY</a:t>
            </a:r>
          </a:p>
        </p:txBody>
      </p:sp>
      <p:sp>
        <p:nvSpPr>
          <p:cNvPr id="12" name="Freeform 12"/>
          <p:cNvSpPr/>
          <p:nvPr/>
        </p:nvSpPr>
        <p:spPr>
          <a:xfrm>
            <a:off x="533400" y="6647409"/>
            <a:ext cx="3049212" cy="2774250"/>
          </a:xfrm>
          <a:custGeom>
            <a:avLst/>
            <a:gdLst/>
            <a:ahLst/>
            <a:cxnLst/>
            <a:rect l="l" t="t" r="r" b="b"/>
            <a:pathLst>
              <a:path w="4380020" h="3549449">
                <a:moveTo>
                  <a:pt x="0" y="0"/>
                </a:moveTo>
                <a:lnTo>
                  <a:pt x="4380020" y="0"/>
                </a:lnTo>
                <a:lnTo>
                  <a:pt x="4380020" y="3549449"/>
                </a:lnTo>
                <a:lnTo>
                  <a:pt x="0" y="3549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7257831" y="5897952"/>
            <a:ext cx="11030169" cy="586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1"/>
              </a:lnSpc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SQL Technique: DENSE_RANK() Window Function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64467" y="6968931"/>
            <a:ext cx="9337573" cy="110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78"/>
              </a:lnSpc>
            </a:pPr>
            <a:r>
              <a:rPr lang="en-US" sz="155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Rank products by order frequency within each category to identify the most popular items. Using DENSE_RANK() OVER (PARTITION BY category ORDER BY COUNT(</a:t>
            </a:r>
            <a:r>
              <a:rPr lang="en-US" sz="1556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order_id</a:t>
            </a:r>
            <a:r>
              <a:rPr lang="en-US" sz="155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DESC), products are ranked without gaps. Insight: Staples lead Office Supplies, Binders rank high in volume — these popular products guide inventory prioritization and restocking strategies.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972" y="52509"/>
            <a:ext cx="18200028" cy="372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YEAR(o.order_date_clean) AS order_year,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p.category,p.product_name,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COUNT(s.order_id) AS order_count,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DENSE_RANK() OVER (PARTITION BY YEAR(o.order_date_clean),p.category ORDER BY COUNT(s.order_id) DESC) AS rnk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p.product_id = s.product_id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orders o ON s.order_id = o.order_id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YEAR(o.order_date_clean),p.category, p.product_name 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C6B6B6-69F7-4F44-DCDF-7FE09F1D9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2" y="3871930"/>
            <a:ext cx="6792453" cy="3176570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830328" y="3759786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17: PROFIT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MARGIN PER PRODUCT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4056" y="7200900"/>
            <a:ext cx="3835644" cy="2535135"/>
          </a:xfrm>
          <a:custGeom>
            <a:avLst/>
            <a:gdLst/>
            <a:ahLst/>
            <a:cxnLst/>
            <a:rect l="l" t="t" r="r" b="b"/>
            <a:pathLst>
              <a:path w="4281280" h="3469433">
                <a:moveTo>
                  <a:pt x="0" y="0"/>
                </a:moveTo>
                <a:lnTo>
                  <a:pt x="4281280" y="0"/>
                </a:lnTo>
                <a:lnTo>
                  <a:pt x="4281280" y="3469432"/>
                </a:lnTo>
                <a:lnTo>
                  <a:pt x="0" y="3469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Profit Margin Calculation (Profit ÷ Sales)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7831" y="6662534"/>
            <a:ext cx="9337573" cy="120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03"/>
              </a:lnSpc>
            </a:pPr>
            <a:r>
              <a:rPr lang="en-US" sz="13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Calculate profit margin ratio for each product to distinguish high-margin from low-margin items.</a:t>
            </a:r>
          </a:p>
          <a:p>
            <a:pPr marL="0" lvl="0" indent="0" algn="just">
              <a:lnSpc>
                <a:spcPts val="1903"/>
              </a:lnSpc>
            </a:pPr>
            <a:r>
              <a:rPr lang="en-US" sz="13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Technique: SELECT product_name, SUM(profit)/SUM(sales) AS profit_margin FROM orders GROUP BY product_name ORDER BY profit_margin DESC.</a:t>
            </a:r>
          </a:p>
          <a:p>
            <a:pPr marL="0" lvl="0" indent="0" algn="just">
              <a:lnSpc>
                <a:spcPts val="1903"/>
              </a:lnSpc>
            </a:pPr>
            <a:r>
              <a:rPr lang="en-US" sz="13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High-margin products drive profitability even with lower sales volume, while low or negative margin products erode overall profit — guiding pricing and discount strategies.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3833913" y="311148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20" y="0"/>
                </a:moveTo>
                <a:lnTo>
                  <a:pt x="0" y="0"/>
                </a:lnTo>
                <a:lnTo>
                  <a:pt x="0" y="3243937"/>
                </a:lnTo>
                <a:lnTo>
                  <a:pt x="4255920" y="3243937"/>
                </a:lnTo>
                <a:lnTo>
                  <a:pt x="425592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8167" y="-57150"/>
            <a:ext cx="8254827" cy="372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p.product_name,p.product_id,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SUM(s.sales ) AS total_sales,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SUM(s.profit) AS total_profit,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ROUND(SUM(profit)/SUM(sales),2) AS total_margin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p.product_id = s.product_id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p.product_name,p.product_id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total_margin DESC;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44FBAF-4EF1-FD99-F4B3-DEF53B19E4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61" y="3883241"/>
            <a:ext cx="6415246" cy="2840254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229219"/>
            <a:ext cx="9900735" cy="3058314"/>
            <a:chOff x="0" y="0"/>
            <a:chExt cx="2607601" cy="805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7601" cy="805482"/>
            </a:xfrm>
            <a:custGeom>
              <a:avLst/>
              <a:gdLst/>
              <a:ahLst/>
              <a:cxnLst/>
              <a:rect l="l" t="t" r="r" b="b"/>
              <a:pathLst>
                <a:path w="2607601" h="805482">
                  <a:moveTo>
                    <a:pt x="39098" y="0"/>
                  </a:moveTo>
                  <a:lnTo>
                    <a:pt x="2568503" y="0"/>
                  </a:lnTo>
                  <a:cubicBezTo>
                    <a:pt x="2590097" y="0"/>
                    <a:pt x="2607601" y="17505"/>
                    <a:pt x="2607601" y="39098"/>
                  </a:cubicBezTo>
                  <a:lnTo>
                    <a:pt x="2607601" y="766384"/>
                  </a:lnTo>
                  <a:cubicBezTo>
                    <a:pt x="2607601" y="787977"/>
                    <a:pt x="2590097" y="805482"/>
                    <a:pt x="2568503" y="805482"/>
                  </a:cubicBezTo>
                  <a:lnTo>
                    <a:pt x="39098" y="805482"/>
                  </a:lnTo>
                  <a:cubicBezTo>
                    <a:pt x="17505" y="805482"/>
                    <a:pt x="0" y="787977"/>
                    <a:pt x="0" y="766384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07601" cy="843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617363" y="6450596"/>
            <a:ext cx="7021410" cy="3984650"/>
          </a:xfrm>
          <a:custGeom>
            <a:avLst/>
            <a:gdLst/>
            <a:ahLst/>
            <a:cxnLst/>
            <a:rect l="l" t="t" r="r" b="b"/>
            <a:pathLst>
              <a:path w="7021410" h="3984650">
                <a:moveTo>
                  <a:pt x="0" y="0"/>
                </a:moveTo>
                <a:lnTo>
                  <a:pt x="7021410" y="0"/>
                </a:lnTo>
                <a:lnTo>
                  <a:pt x="7021410" y="3984650"/>
                </a:lnTo>
                <a:lnTo>
                  <a:pt x="0" y="3984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92650" y="1181100"/>
            <a:ext cx="13926768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&amp; SALES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DEEP DIVE</a:t>
            </a:r>
          </a:p>
        </p:txBody>
      </p:sp>
      <p:sp>
        <p:nvSpPr>
          <p:cNvPr id="13" name="Freeform 13"/>
          <p:cNvSpPr/>
          <p:nvPr/>
        </p:nvSpPr>
        <p:spPr>
          <a:xfrm rot="-6706372">
            <a:off x="1711459" y="6923795"/>
            <a:ext cx="1280517" cy="1835866"/>
          </a:xfrm>
          <a:custGeom>
            <a:avLst/>
            <a:gdLst/>
            <a:ahLst/>
            <a:cxnLst/>
            <a:rect l="l" t="t" r="r" b="b"/>
            <a:pathLst>
              <a:path w="1280517" h="1835866">
                <a:moveTo>
                  <a:pt x="0" y="0"/>
                </a:moveTo>
                <a:lnTo>
                  <a:pt x="1280517" y="0"/>
                </a:lnTo>
                <a:lnTo>
                  <a:pt x="1280517" y="1835866"/>
                </a:lnTo>
                <a:lnTo>
                  <a:pt x="0" y="1835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570145" y="8374187"/>
            <a:ext cx="2094436" cy="2061059"/>
          </a:xfrm>
          <a:custGeom>
            <a:avLst/>
            <a:gdLst/>
            <a:ahLst/>
            <a:cxnLst/>
            <a:rect l="l" t="t" r="r" b="b"/>
            <a:pathLst>
              <a:path w="2094436" h="2061059">
                <a:moveTo>
                  <a:pt x="0" y="0"/>
                </a:moveTo>
                <a:lnTo>
                  <a:pt x="2094436" y="0"/>
                </a:lnTo>
                <a:lnTo>
                  <a:pt x="2094436" y="2061059"/>
                </a:lnTo>
                <a:lnTo>
                  <a:pt x="0" y="2061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813364" y="6385215"/>
            <a:ext cx="3351418" cy="3977944"/>
          </a:xfrm>
          <a:custGeom>
            <a:avLst/>
            <a:gdLst/>
            <a:ahLst/>
            <a:cxnLst/>
            <a:rect l="l" t="t" r="r" b="b"/>
            <a:pathLst>
              <a:path w="3351418" h="3977944">
                <a:moveTo>
                  <a:pt x="0" y="0"/>
                </a:moveTo>
                <a:lnTo>
                  <a:pt x="3351417" y="0"/>
                </a:lnTo>
                <a:lnTo>
                  <a:pt x="3351417" y="3977944"/>
                </a:lnTo>
                <a:lnTo>
                  <a:pt x="0" y="3977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90644" y="3450573"/>
            <a:ext cx="13364824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4 of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0644" y="4196104"/>
            <a:ext cx="8776848" cy="132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Examining orders and sales value for business insights — covering top orders by value, discount profitability analysis, and largest orders per customer.</a:t>
            </a:r>
          </a:p>
        </p:txBody>
      </p:sp>
    </p:spTree>
  </p:cSld>
  <p:clrMapOvr>
    <a:masterClrMapping/>
  </p:clrMapOvr>
  <p:transition spd="med" advClick="0" advTm="5000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7394" y="-1943205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830328" y="3910813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18: TOP 3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ORDERS BY SALES VALUE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93956" y="6540001"/>
            <a:ext cx="5576421" cy="3401617"/>
          </a:xfrm>
          <a:custGeom>
            <a:avLst/>
            <a:gdLst/>
            <a:ahLst/>
            <a:cxnLst/>
            <a:rect l="l" t="t" r="r" b="b"/>
            <a:pathLst>
              <a:path w="5576421" h="3401617">
                <a:moveTo>
                  <a:pt x="0" y="0"/>
                </a:moveTo>
                <a:lnTo>
                  <a:pt x="5576421" y="0"/>
                </a:lnTo>
                <a:lnTo>
                  <a:pt x="5576421" y="3401617"/>
                </a:lnTo>
                <a:lnTo>
                  <a:pt x="0" y="340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858001" y="5888427"/>
            <a:ext cx="11430000" cy="610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Identify the Highest Value Orders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7831" y="6662534"/>
            <a:ext cx="9337573" cy="129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63"/>
              </a:lnSpc>
            </a:pPr>
            <a:r>
              <a:rPr lang="en-US" sz="18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Technique: ORDER BY sales DESC with LIMIT 3. These top-value orders represent premium transactions ideal for case studies and white-glove service. Insight: Focusing on large orders enables targeted premium support, upsell opportunities, and deeper account management for high-revenue customers.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346784" y="165441"/>
            <a:ext cx="4277851" cy="4325008"/>
          </a:xfrm>
          <a:custGeom>
            <a:avLst/>
            <a:gdLst/>
            <a:ahLst/>
            <a:cxnLst/>
            <a:rect l="l" t="t" r="r" b="b"/>
            <a:pathLst>
              <a:path w="4277851" h="4325008">
                <a:moveTo>
                  <a:pt x="0" y="0"/>
                </a:moveTo>
                <a:lnTo>
                  <a:pt x="4277851" y="0"/>
                </a:lnTo>
                <a:lnTo>
                  <a:pt x="4277851" y="4325008"/>
                </a:lnTo>
                <a:lnTo>
                  <a:pt x="0" y="4325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20995" y="-57150"/>
            <a:ext cx="7036836" cy="3257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o.order_id,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SUM(s.sales) AS total_sales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orders o 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o.order_id = s.order_id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o.order_id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total_sales DESC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LIMIT 3;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6ED3D4-74C7-4FFD-9943-94453CB6E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95" y="3543300"/>
            <a:ext cx="3724263" cy="1717501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898718"/>
            <a:ext cx="11592113" cy="167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98"/>
              </a:lnSpc>
            </a:pPr>
            <a:r>
              <a:rPr lang="en-US" sz="666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19: HIGH DISCOUNT</a:t>
            </a:r>
          </a:p>
          <a:p>
            <a:pPr marL="0" lvl="0" indent="0" algn="l">
              <a:lnSpc>
                <a:spcPts val="6398"/>
              </a:lnSpc>
            </a:pPr>
            <a:r>
              <a:rPr lang="en-US" sz="666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ORDERS PROFITABILITY CHECK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16788215" y="-151538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2" y="0"/>
                </a:lnTo>
                <a:lnTo>
                  <a:pt x="1646432" y="2360476"/>
                </a:lnTo>
                <a:lnTo>
                  <a:pt x="0" y="2360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73832" y="6266602"/>
            <a:ext cx="3458813" cy="3503791"/>
          </a:xfrm>
          <a:custGeom>
            <a:avLst/>
            <a:gdLst/>
            <a:ahLst/>
            <a:cxnLst/>
            <a:rect l="l" t="t" r="r" b="b"/>
            <a:pathLst>
              <a:path w="3458813" h="3503791">
                <a:moveTo>
                  <a:pt x="0" y="0"/>
                </a:moveTo>
                <a:lnTo>
                  <a:pt x="3458812" y="0"/>
                </a:lnTo>
                <a:lnTo>
                  <a:pt x="3458812" y="3503790"/>
                </a:lnTo>
                <a:lnTo>
                  <a:pt x="0" y="3503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&amp; SQL Technique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7831" y="6653009"/>
            <a:ext cx="9337573" cy="126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6"/>
              </a:lnSpc>
            </a:pPr>
            <a:r>
              <a:rPr lang="en-US" sz="18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Analyze profitability of orders where discount &gt; 50%. Uses WHERE discount &gt; 0.5 with SUM(profit), SUM(sales), GROUP BY order_id. Insight: Steep discounts severely erode margins — most high-discount orders yield negative profit, signaling a need to cap discount thresholds and re-evaluate promotional pricing strategies.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165380" y="590563"/>
            <a:ext cx="6341223" cy="2964522"/>
          </a:xfrm>
          <a:custGeom>
            <a:avLst/>
            <a:gdLst/>
            <a:ahLst/>
            <a:cxnLst/>
            <a:rect l="l" t="t" r="r" b="b"/>
            <a:pathLst>
              <a:path w="6341223" h="2964522">
                <a:moveTo>
                  <a:pt x="0" y="0"/>
                </a:moveTo>
                <a:lnTo>
                  <a:pt x="6341223" y="0"/>
                </a:lnTo>
                <a:lnTo>
                  <a:pt x="6341223" y="2964522"/>
                </a:lnTo>
                <a:lnTo>
                  <a:pt x="0" y="2964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-1" y="-57150"/>
            <a:ext cx="8725827" cy="3724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o.order_id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s.sales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AS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total_sales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s.profit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AS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total_profit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ROUND(SUM(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s.sales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)/SUM(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s.profit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),2)</a:t>
            </a:r>
            <a:r>
              <a:rPr lang="en-US" sz="2629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AS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total_margin</a:t>
            </a:r>
            <a:endParaRPr lang="en-US" sz="2629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orders o </a:t>
            </a: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o.order_id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=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s.order_id</a:t>
            </a:r>
            <a:endParaRPr lang="en-US" sz="2629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o.order_id</a:t>
            </a:r>
            <a:endParaRPr lang="en-US" sz="2629" u="none" strike="noStrike" dirty="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0" lvl="0" indent="0" algn="just">
              <a:lnSpc>
                <a:spcPts val="3680"/>
              </a:lnSpc>
              <a:spcBef>
                <a:spcPct val="0"/>
              </a:spcBef>
            </a:pP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</a:t>
            </a:r>
            <a:r>
              <a:rPr lang="en-US" sz="2629" u="none" strike="noStrike" dirty="0" err="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total_profit</a:t>
            </a:r>
            <a:r>
              <a:rPr lang="en-US" sz="2629" u="none" strike="noStrike" dirty="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DESC;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44394E-746F-F0ED-FD90-C4ACF2ABE9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90" y="3848100"/>
            <a:ext cx="4030820" cy="2650402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3810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726859" y="5821752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666741" y="4065493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20: LARGEST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PER CUSTOMER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88757" y="7423754"/>
            <a:ext cx="2147947" cy="3079493"/>
          </a:xfrm>
          <a:custGeom>
            <a:avLst/>
            <a:gdLst/>
            <a:ahLst/>
            <a:cxnLst/>
            <a:rect l="l" t="t" r="r" b="b"/>
            <a:pathLst>
              <a:path w="2147947" h="3079493">
                <a:moveTo>
                  <a:pt x="0" y="0"/>
                </a:moveTo>
                <a:lnTo>
                  <a:pt x="2147946" y="0"/>
                </a:lnTo>
                <a:lnTo>
                  <a:pt x="2147946" y="3079494"/>
                </a:lnTo>
                <a:lnTo>
                  <a:pt x="0" y="3079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921727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Purchase Power &amp; Upsell Targets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8643" y="6835276"/>
            <a:ext cx="9337573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Determine each customer's single largest order by total sales value.</a:t>
            </a:r>
          </a:p>
          <a:p>
            <a:pPr marL="0" lvl="0" indent="0" algn="just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Technique: MAX(sales) with GROUP BY customer, or ROW_NUMBER() / RANK() window function partitioned by customer ordered by sales DESC.</a:t>
            </a:r>
          </a:p>
          <a:p>
            <a:pPr marL="0" lvl="0" indent="0" algn="just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Reveals high-value purchase behavior per customer — identifying top spenders and potential upsell or premium service targets.</a:t>
            </a:r>
          </a:p>
          <a:p>
            <a:pPr marL="0" lvl="0" indent="0" algn="just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Value: Customers with large single orders signal high purchase power and are prime candidates for loyalty programs and personalized outreach.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838349" y="571491"/>
            <a:ext cx="5060188" cy="3225870"/>
          </a:xfrm>
          <a:custGeom>
            <a:avLst/>
            <a:gdLst/>
            <a:ahLst/>
            <a:cxnLst/>
            <a:rect l="l" t="t" r="r" b="b"/>
            <a:pathLst>
              <a:path w="5060188" h="3225870">
                <a:moveTo>
                  <a:pt x="0" y="0"/>
                </a:moveTo>
                <a:lnTo>
                  <a:pt x="5060188" y="0"/>
                </a:lnTo>
                <a:lnTo>
                  <a:pt x="5060188" y="3225870"/>
                </a:lnTo>
                <a:lnTo>
                  <a:pt x="0" y="3225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7832" y="76003"/>
            <a:ext cx="7676706" cy="5067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sub.customer_id,sub.customer_name,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MAX(sub.total_sales) AS largest_order_sales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(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SELECT c.customer_id,c.customer_name,o.order_id,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SUM(s.sales) AS total_sales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FROM customers c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INNER JOIN orders o ON c.customer_id = o.customer_id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INNER JOIN sales s ON o.order_id = s.order_id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GROUP BY c.customer_id,c.customer_name,o.order_id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sub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sub.customer_id,sub.customer_name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largest_order_sales;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3234B1-FD1A-0627-9E58-6428009DA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73" y="5219503"/>
            <a:ext cx="3855503" cy="3334789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229219"/>
            <a:ext cx="9900735" cy="3058314"/>
            <a:chOff x="0" y="0"/>
            <a:chExt cx="2607601" cy="805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7601" cy="805482"/>
            </a:xfrm>
            <a:custGeom>
              <a:avLst/>
              <a:gdLst/>
              <a:ahLst/>
              <a:cxnLst/>
              <a:rect l="l" t="t" r="r" b="b"/>
              <a:pathLst>
                <a:path w="2607601" h="805482">
                  <a:moveTo>
                    <a:pt x="39098" y="0"/>
                  </a:moveTo>
                  <a:lnTo>
                    <a:pt x="2568503" y="0"/>
                  </a:lnTo>
                  <a:cubicBezTo>
                    <a:pt x="2590097" y="0"/>
                    <a:pt x="2607601" y="17505"/>
                    <a:pt x="2607601" y="39098"/>
                  </a:cubicBezTo>
                  <a:lnTo>
                    <a:pt x="2607601" y="766384"/>
                  </a:lnTo>
                  <a:cubicBezTo>
                    <a:pt x="2607601" y="787977"/>
                    <a:pt x="2590097" y="805482"/>
                    <a:pt x="2568503" y="805482"/>
                  </a:cubicBezTo>
                  <a:lnTo>
                    <a:pt x="39098" y="805482"/>
                  </a:lnTo>
                  <a:cubicBezTo>
                    <a:pt x="17505" y="805482"/>
                    <a:pt x="0" y="787977"/>
                    <a:pt x="0" y="766384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07601" cy="843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637760" y="4670562"/>
            <a:ext cx="11107443" cy="4734548"/>
          </a:xfrm>
          <a:custGeom>
            <a:avLst/>
            <a:gdLst/>
            <a:ahLst/>
            <a:cxnLst/>
            <a:rect l="l" t="t" r="r" b="b"/>
            <a:pathLst>
              <a:path w="11107443" h="4734548">
                <a:moveTo>
                  <a:pt x="0" y="0"/>
                </a:moveTo>
                <a:lnTo>
                  <a:pt x="11107444" y="0"/>
                </a:lnTo>
                <a:lnTo>
                  <a:pt x="11107444" y="4734548"/>
                </a:lnTo>
                <a:lnTo>
                  <a:pt x="0" y="4734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838311">
            <a:off x="16411279" y="868299"/>
            <a:ext cx="2290639" cy="4721839"/>
          </a:xfrm>
          <a:custGeom>
            <a:avLst/>
            <a:gdLst/>
            <a:ahLst/>
            <a:cxnLst/>
            <a:rect l="l" t="t" r="r" b="b"/>
            <a:pathLst>
              <a:path w="2290639" h="4721839">
                <a:moveTo>
                  <a:pt x="0" y="0"/>
                </a:moveTo>
                <a:lnTo>
                  <a:pt x="2290638" y="0"/>
                </a:lnTo>
                <a:lnTo>
                  <a:pt x="2290638" y="4721839"/>
                </a:lnTo>
                <a:lnTo>
                  <a:pt x="0" y="472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181100"/>
            <a:ext cx="13926768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ADVANCED ANALYTICS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WITH WINDOW FUNCTIONS</a:t>
            </a:r>
          </a:p>
        </p:txBody>
      </p:sp>
      <p:sp>
        <p:nvSpPr>
          <p:cNvPr id="14" name="Freeform 14"/>
          <p:cNvSpPr/>
          <p:nvPr/>
        </p:nvSpPr>
        <p:spPr>
          <a:xfrm rot="-4330008">
            <a:off x="12882801" y="698264"/>
            <a:ext cx="1551947" cy="2225014"/>
          </a:xfrm>
          <a:custGeom>
            <a:avLst/>
            <a:gdLst/>
            <a:ahLst/>
            <a:cxnLst/>
            <a:rect l="l" t="t" r="r" b="b"/>
            <a:pathLst>
              <a:path w="1551947" h="2225014">
                <a:moveTo>
                  <a:pt x="0" y="0"/>
                </a:moveTo>
                <a:lnTo>
                  <a:pt x="1551948" y="0"/>
                </a:lnTo>
                <a:lnTo>
                  <a:pt x="1551948" y="2225014"/>
                </a:lnTo>
                <a:lnTo>
                  <a:pt x="0" y="2225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6706372">
            <a:off x="1711459" y="6923795"/>
            <a:ext cx="1280517" cy="1835866"/>
          </a:xfrm>
          <a:custGeom>
            <a:avLst/>
            <a:gdLst/>
            <a:ahLst/>
            <a:cxnLst/>
            <a:rect l="l" t="t" r="r" b="b"/>
            <a:pathLst>
              <a:path w="1280517" h="1835866">
                <a:moveTo>
                  <a:pt x="0" y="0"/>
                </a:moveTo>
                <a:lnTo>
                  <a:pt x="1280517" y="0"/>
                </a:lnTo>
                <a:lnTo>
                  <a:pt x="1280517" y="1835866"/>
                </a:lnTo>
                <a:lnTo>
                  <a:pt x="0" y="1835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078947" y="6771010"/>
            <a:ext cx="3494494" cy="3267352"/>
          </a:xfrm>
          <a:custGeom>
            <a:avLst/>
            <a:gdLst/>
            <a:ahLst/>
            <a:cxnLst/>
            <a:rect l="l" t="t" r="r" b="b"/>
            <a:pathLst>
              <a:path w="3494494" h="3267352">
                <a:moveTo>
                  <a:pt x="0" y="0"/>
                </a:moveTo>
                <a:lnTo>
                  <a:pt x="3494494" y="0"/>
                </a:lnTo>
                <a:lnTo>
                  <a:pt x="3494494" y="3267352"/>
                </a:lnTo>
                <a:lnTo>
                  <a:pt x="0" y="3267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005673" y="6662917"/>
            <a:ext cx="3843887" cy="3421059"/>
          </a:xfrm>
          <a:custGeom>
            <a:avLst/>
            <a:gdLst/>
            <a:ahLst/>
            <a:cxnLst/>
            <a:rect l="l" t="t" r="r" b="b"/>
            <a:pathLst>
              <a:path w="3843887" h="3421059">
                <a:moveTo>
                  <a:pt x="0" y="0"/>
                </a:moveTo>
                <a:lnTo>
                  <a:pt x="3843887" y="0"/>
                </a:lnTo>
                <a:lnTo>
                  <a:pt x="3843887" y="3421059"/>
                </a:lnTo>
                <a:lnTo>
                  <a:pt x="0" y="34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90644" y="3450573"/>
            <a:ext cx="13364824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5: Window Functions Deep Dive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0644" y="4205629"/>
            <a:ext cx="8776848" cy="175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Leveraging SQL window functions for deeper insights — covering Queries 21–25 with RANK(), DENSE_RANK(), LAG(), and partitioned analytics for advanced business intelligence.</a:t>
            </a:r>
          </a:p>
        </p:txBody>
      </p:sp>
    </p:spTree>
  </p:cSld>
  <p:clrMapOvr>
    <a:masterClrMapping/>
  </p:clrMapOvr>
  <p:transition spd="med" advClick="0" advTm="5000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492345" y="5500076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300613" y="3631676"/>
            <a:ext cx="10944605" cy="161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07"/>
              </a:lnSpc>
            </a:pPr>
            <a:r>
              <a:rPr lang="en-US" sz="6362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21 -</a:t>
            </a:r>
          </a:p>
          <a:p>
            <a:pPr marL="0" lvl="0" indent="0" algn="l">
              <a:lnSpc>
                <a:spcPts val="6107"/>
              </a:lnSpc>
            </a:pPr>
            <a:r>
              <a:rPr lang="en-US" sz="6362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PRODUCT RANKING BY PROFIT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2697604" y="598946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68477" y="7098212"/>
            <a:ext cx="4564278" cy="2379376"/>
          </a:xfrm>
          <a:custGeom>
            <a:avLst/>
            <a:gdLst/>
            <a:ahLst/>
            <a:cxnLst/>
            <a:rect l="l" t="t" r="r" b="b"/>
            <a:pathLst>
              <a:path w="5795237" h="3484386">
                <a:moveTo>
                  <a:pt x="0" y="0"/>
                </a:moveTo>
                <a:lnTo>
                  <a:pt x="5795237" y="0"/>
                </a:lnTo>
                <a:lnTo>
                  <a:pt x="5795237" y="3484387"/>
                </a:lnTo>
                <a:lnTo>
                  <a:pt x="0" y="3484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24367" y="5654497"/>
            <a:ext cx="10297097" cy="582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9"/>
              </a:lnSpc>
            </a:pPr>
            <a:r>
              <a:rPr lang="en-US" sz="32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Ranking Products by Profit Within Each Category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81884" y="6636707"/>
            <a:ext cx="9850034" cy="120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3"/>
              </a:lnSpc>
            </a:pPr>
            <a:r>
              <a:rPr lang="en-US" sz="1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RANK() window function partitioned by category to rank each product by total profit. Reveals top and bottom performers within Technology, Furniture, and Office Supplies. Insight: Identifies which products lead or lag within their category, enabling targeted inventory, pricing, and promotional decisions based on category-relative performance.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020800" y="84414"/>
            <a:ext cx="4255920" cy="3846287"/>
          </a:xfrm>
          <a:custGeom>
            <a:avLst/>
            <a:gdLst/>
            <a:ahLst/>
            <a:cxnLst/>
            <a:rect l="l" t="t" r="r" b="b"/>
            <a:pathLst>
              <a:path w="4255920" h="3846287">
                <a:moveTo>
                  <a:pt x="0" y="0"/>
                </a:moveTo>
                <a:lnTo>
                  <a:pt x="4255920" y="0"/>
                </a:lnTo>
                <a:lnTo>
                  <a:pt x="4255920" y="3846288"/>
                </a:lnTo>
                <a:lnTo>
                  <a:pt x="0" y="3846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0" y="158082"/>
            <a:ext cx="11492032" cy="293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p.category,p.product_id,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SUM(s.profit) AS total_profit,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RANK() OVER (PARTITION BY p.category ORDER BY SUM(s.profit) DESC) AS rank_profit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INNER JOIN sales s ON p.product_id = s.product_id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p.category,p.product_id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p.category,rank_profit;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49DE8E-7DBF-03C8-02F6-27960FA980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4" y="3631676"/>
            <a:ext cx="4179626" cy="3501959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257831" y="4019492"/>
            <a:ext cx="10838852" cy="164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78"/>
              </a:lnSpc>
            </a:pPr>
            <a:r>
              <a:rPr lang="en-US" sz="654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22:</a:t>
            </a:r>
          </a:p>
          <a:p>
            <a:pPr marL="0" lvl="0" indent="0" algn="l">
              <a:lnSpc>
                <a:spcPts val="6278"/>
              </a:lnSpc>
            </a:pPr>
            <a:r>
              <a:rPr lang="en-US" sz="654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TOP PRODUCT PER CATEGORY</a:t>
            </a:r>
          </a:p>
        </p:txBody>
      </p:sp>
      <p:sp>
        <p:nvSpPr>
          <p:cNvPr id="12" name="Freeform 12"/>
          <p:cNvSpPr/>
          <p:nvPr/>
        </p:nvSpPr>
        <p:spPr>
          <a:xfrm rot="-6706372">
            <a:off x="14370514" y="445199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1" y="0"/>
                </a:lnTo>
                <a:lnTo>
                  <a:pt x="1646431" y="2360475"/>
                </a:lnTo>
                <a:lnTo>
                  <a:pt x="0" y="2360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257831" y="5888427"/>
            <a:ext cx="11030169" cy="65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Flagging Category Leaders Using RANK()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7831" y="6672059"/>
            <a:ext cx="9337573" cy="128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Identify the highest-profit product in each category using the RANK() window function partitioned by category. SQL Technique: RANK() OVER (PARTITION BY category ORDER BY SUM(profit) DESC). Insight: Category leaders like Copiers (Technology), Chairs (Furniture), and Binders (Office Supplies) dominate profits — flagging these products for priority stocking, marketing focus, and strategic investment decisions.</a:t>
            </a:r>
          </a:p>
        </p:txBody>
      </p:sp>
      <p:sp>
        <p:nvSpPr>
          <p:cNvPr id="15" name="Freeform 15"/>
          <p:cNvSpPr/>
          <p:nvPr/>
        </p:nvSpPr>
        <p:spPr>
          <a:xfrm rot="458970">
            <a:off x="830565" y="6809025"/>
            <a:ext cx="2658395" cy="3181617"/>
          </a:xfrm>
          <a:custGeom>
            <a:avLst/>
            <a:gdLst/>
            <a:ahLst/>
            <a:cxnLst/>
            <a:rect l="l" t="t" r="r" b="b"/>
            <a:pathLst>
              <a:path w="2658395" h="3181617">
                <a:moveTo>
                  <a:pt x="0" y="0"/>
                </a:moveTo>
                <a:lnTo>
                  <a:pt x="2658395" y="0"/>
                </a:lnTo>
                <a:lnTo>
                  <a:pt x="2658395" y="3181617"/>
                </a:lnTo>
                <a:lnTo>
                  <a:pt x="0" y="3181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647597" y="584436"/>
            <a:ext cx="3647330" cy="3987525"/>
          </a:xfrm>
          <a:custGeom>
            <a:avLst/>
            <a:gdLst/>
            <a:ahLst/>
            <a:cxnLst/>
            <a:rect l="l" t="t" r="r" b="b"/>
            <a:pathLst>
              <a:path w="3647330" h="3987525">
                <a:moveTo>
                  <a:pt x="0" y="0"/>
                </a:moveTo>
                <a:lnTo>
                  <a:pt x="3647330" y="0"/>
                </a:lnTo>
                <a:lnTo>
                  <a:pt x="3647330" y="3987525"/>
                </a:lnTo>
                <a:lnTo>
                  <a:pt x="0" y="3987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0" y="-57150"/>
            <a:ext cx="11328949" cy="460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32"/>
              </a:lnSpc>
            </a:pPr>
            <a:r>
              <a:rPr lang="en-US" sz="238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category,product_id,product_name,total_profit</a:t>
            </a:r>
          </a:p>
          <a:p>
            <a:pPr algn="just">
              <a:lnSpc>
                <a:spcPts val="3332"/>
              </a:lnSpc>
            </a:pPr>
            <a:r>
              <a:rPr lang="en-US" sz="238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(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</a:t>
            </a: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p.category,p.product_name,p.product_id,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SUM(s.profit) AS total_profit,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RANK() OVER (PARTITION BY p.category ORDER BY SUM(s.profit) DESC) AS rnk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FROM products p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INNER JOIN sales s ON p.product_id = s.product_id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GROUP BY p.category,p.product_id,p.product_name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sub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WHERE rnk = 1</a:t>
            </a:r>
          </a:p>
          <a:p>
            <a:pPr marL="0" lvl="0" indent="0" algn="just">
              <a:lnSpc>
                <a:spcPts val="3332"/>
              </a:lnSpc>
              <a:spcBef>
                <a:spcPct val="0"/>
              </a:spcBef>
            </a:pPr>
            <a:r>
              <a:rPr lang="en-US" sz="2380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category;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F0691D-B1A3-57BD-A0E0-86DC191A9F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65" y="4716741"/>
            <a:ext cx="5692339" cy="1611341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695887" y="5667073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95887" y="3608759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23: YEAR-OVER-YEAR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GROWTH RATE BY CATEGORY</a:t>
            </a:r>
          </a:p>
        </p:txBody>
      </p:sp>
      <p:sp>
        <p:nvSpPr>
          <p:cNvPr id="12" name="Freeform 12"/>
          <p:cNvSpPr/>
          <p:nvPr/>
        </p:nvSpPr>
        <p:spPr>
          <a:xfrm>
            <a:off x="1" y="7124700"/>
            <a:ext cx="3733800" cy="2588109"/>
          </a:xfrm>
          <a:custGeom>
            <a:avLst/>
            <a:gdLst/>
            <a:ahLst/>
            <a:cxnLst/>
            <a:rect l="l" t="t" r="r" b="b"/>
            <a:pathLst>
              <a:path w="4252619" h="3446207">
                <a:moveTo>
                  <a:pt x="0" y="0"/>
                </a:moveTo>
                <a:lnTo>
                  <a:pt x="4252619" y="0"/>
                </a:lnTo>
                <a:lnTo>
                  <a:pt x="4252619" y="3446207"/>
                </a:lnTo>
                <a:lnTo>
                  <a:pt x="0" y="34462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934201" y="5888427"/>
            <a:ext cx="11353800" cy="595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LAG() Window Function — Sales Trend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7831" y="6662534"/>
            <a:ext cx="9337573" cy="10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3"/>
              </a:lnSpc>
            </a:pPr>
            <a:r>
              <a:rPr lang="en-US" sz="15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Calculate YoY sales growth for each product category using LAG() to compare current vs. prior year sales. SQL Technique: LAG() window function partitioned by category, ordered by year, with growth % = (current - prior) / prior * 100. Insight: Identifies categories with accelerating or declining sales trends, enabling data-driven forecasting and strategic investment decisions.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-16178"/>
            <a:ext cx="14755509" cy="45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p.category,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YEAR(o.order_date_clean) AS order_year,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SUM(s.sales) AS total_sales,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LAG(SUM(s.sales)) OVER (PARTITION BY p.category ORDER BY YEAR(o.order_date_clean)) AS prev_year_sales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,ROUND((SUM(s.sales) - LAG(SUM(s.sales)) OVER (PARTITION BY p.category ORDER BY YEAR(o.order_date_clean)) ) 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/ LAG(SUM(s.sales)) OVER (PARTITION BY p.category ORDER BY YEAR(o.order_date_clean)) * 100, 2) AS yoy_growth_rate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products p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JOIN sales s ON p.product_id = s.product_id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JOIN orders o ON s.order_id = o.order_id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p.category, YEAR(o.order_date_clean)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p.category, order_year;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endParaRPr lang="en-US" sz="2165" u="none" strike="noStrike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B9B715-323B-DCAC-F249-7A0E09A3F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8" y="4709905"/>
            <a:ext cx="5203912" cy="2527620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726859" y="5579098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382502" y="3822838"/>
            <a:ext cx="11592113" cy="17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24: FIRST ORDER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DATE PER CUSTOMER</a:t>
            </a:r>
          </a:p>
        </p:txBody>
      </p:sp>
      <p:sp>
        <p:nvSpPr>
          <p:cNvPr id="12" name="Freeform 12"/>
          <p:cNvSpPr/>
          <p:nvPr/>
        </p:nvSpPr>
        <p:spPr>
          <a:xfrm rot="-5319134">
            <a:off x="15077314" y="1020369"/>
            <a:ext cx="1468803" cy="2105811"/>
          </a:xfrm>
          <a:custGeom>
            <a:avLst/>
            <a:gdLst/>
            <a:ahLst/>
            <a:cxnLst/>
            <a:rect l="l" t="t" r="r" b="b"/>
            <a:pathLst>
              <a:path w="1468803" h="2105811">
                <a:moveTo>
                  <a:pt x="0" y="0"/>
                </a:moveTo>
                <a:lnTo>
                  <a:pt x="1468803" y="0"/>
                </a:lnTo>
                <a:lnTo>
                  <a:pt x="1468803" y="2105811"/>
                </a:lnTo>
                <a:lnTo>
                  <a:pt x="0" y="2105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706372">
            <a:off x="9722180" y="449728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1" y="0"/>
                </a:lnTo>
                <a:lnTo>
                  <a:pt x="1646431" y="2360476"/>
                </a:lnTo>
                <a:lnTo>
                  <a:pt x="0" y="2360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6800373"/>
            <a:ext cx="3498409" cy="2835015"/>
          </a:xfrm>
          <a:custGeom>
            <a:avLst/>
            <a:gdLst/>
            <a:ahLst/>
            <a:cxnLst/>
            <a:rect l="l" t="t" r="r" b="b"/>
            <a:pathLst>
              <a:path w="3498409" h="2835015">
                <a:moveTo>
                  <a:pt x="0" y="0"/>
                </a:moveTo>
                <a:lnTo>
                  <a:pt x="3498409" y="0"/>
                </a:lnTo>
                <a:lnTo>
                  <a:pt x="3498409" y="2835015"/>
                </a:lnTo>
                <a:lnTo>
                  <a:pt x="0" y="2835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199844" y="5708277"/>
            <a:ext cx="10088156" cy="56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40"/>
              </a:lnSpc>
            </a:pPr>
            <a:r>
              <a:rPr lang="en-US" sz="31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Lifecycle &amp; Cohort Analysis Foundation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99844" y="6743223"/>
            <a:ext cx="10088156" cy="1208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53"/>
              </a:lnSpc>
            </a:pPr>
            <a:r>
              <a:rPr lang="en-US" sz="16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Find the earliest order date placed by each customer using MIN(order_date) with GROUP BY customer_id. SQL Technique: Aggregation with MIN(), JOIN on orders and customers tables, ORDER BY first order date. Insight: Reveals customer acquisition timelines, enabling cohort analysis to track retention, lifetime value, and purchasing behavior evolution over time.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12882389" y="227015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20" y="0"/>
                </a:moveTo>
                <a:lnTo>
                  <a:pt x="0" y="0"/>
                </a:lnTo>
                <a:lnTo>
                  <a:pt x="0" y="3243937"/>
                </a:lnTo>
                <a:lnTo>
                  <a:pt x="4255920" y="3243937"/>
                </a:lnTo>
                <a:lnTo>
                  <a:pt x="425592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-252209"/>
            <a:ext cx="5742504" cy="266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endParaRPr/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c.customer_id,c.customer_name,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MIN(o.order_date_clean) AS first_order_date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customers c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JOIN orders o ON c.customer_id = o.customer_id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GROUP BY c.customer_id, c.customer_name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first_order_date;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32E90E-4F1F-7C37-A40F-36E481A359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955410"/>
            <a:ext cx="3886200" cy="3634316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516866" y="5474787"/>
            <a:ext cx="10561141" cy="2840255"/>
            <a:chOff x="0" y="0"/>
            <a:chExt cx="2781535" cy="7480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81535" cy="748051"/>
            </a:xfrm>
            <a:custGeom>
              <a:avLst/>
              <a:gdLst/>
              <a:ahLst/>
              <a:cxnLst/>
              <a:rect l="l" t="t" r="r" b="b"/>
              <a:pathLst>
                <a:path w="2781535" h="748051">
                  <a:moveTo>
                    <a:pt x="36653" y="0"/>
                  </a:moveTo>
                  <a:lnTo>
                    <a:pt x="2744882" y="0"/>
                  </a:lnTo>
                  <a:cubicBezTo>
                    <a:pt x="2765125" y="0"/>
                    <a:pt x="2781535" y="16410"/>
                    <a:pt x="2781535" y="36653"/>
                  </a:cubicBezTo>
                  <a:lnTo>
                    <a:pt x="2781535" y="711398"/>
                  </a:lnTo>
                  <a:cubicBezTo>
                    <a:pt x="2781535" y="731641"/>
                    <a:pt x="2765125" y="748051"/>
                    <a:pt x="2744882" y="748051"/>
                  </a:cubicBezTo>
                  <a:lnTo>
                    <a:pt x="36653" y="748051"/>
                  </a:lnTo>
                  <a:cubicBezTo>
                    <a:pt x="16410" y="748051"/>
                    <a:pt x="0" y="731641"/>
                    <a:pt x="0" y="711398"/>
                  </a:cubicBezTo>
                  <a:lnTo>
                    <a:pt x="0" y="36653"/>
                  </a:lnTo>
                  <a:cubicBezTo>
                    <a:pt x="0" y="16410"/>
                    <a:pt x="16410" y="0"/>
                    <a:pt x="3665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81535" cy="78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011073" y="3950804"/>
            <a:ext cx="10560023" cy="160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17"/>
              </a:lnSpc>
            </a:pPr>
            <a:r>
              <a:rPr lang="en-US" sz="6372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QUERY 25: TOP 3</a:t>
            </a:r>
          </a:p>
          <a:p>
            <a:pPr marL="0" lvl="0" indent="0" algn="l">
              <a:lnSpc>
                <a:spcPts val="6117"/>
              </a:lnSpc>
            </a:pPr>
            <a:r>
              <a:rPr lang="en-US" sz="6372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CUSTOMERS PER REGION</a:t>
            </a:r>
          </a:p>
        </p:txBody>
      </p:sp>
      <p:sp>
        <p:nvSpPr>
          <p:cNvPr id="12" name="Freeform 12"/>
          <p:cNvSpPr/>
          <p:nvPr/>
        </p:nvSpPr>
        <p:spPr>
          <a:xfrm rot="-6706372">
            <a:off x="15032417" y="22035"/>
            <a:ext cx="1646432" cy="2360475"/>
          </a:xfrm>
          <a:custGeom>
            <a:avLst/>
            <a:gdLst/>
            <a:ahLst/>
            <a:cxnLst/>
            <a:rect l="l" t="t" r="r" b="b"/>
            <a:pathLst>
              <a:path w="1646432" h="2360475">
                <a:moveTo>
                  <a:pt x="0" y="0"/>
                </a:moveTo>
                <a:lnTo>
                  <a:pt x="1646432" y="0"/>
                </a:lnTo>
                <a:lnTo>
                  <a:pt x="1646432" y="2360475"/>
                </a:lnTo>
                <a:lnTo>
                  <a:pt x="0" y="2360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432245" y="5689528"/>
            <a:ext cx="9337573" cy="987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9"/>
              </a:lnSpc>
            </a:pPr>
            <a:r>
              <a:rPr lang="en-US" sz="274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Rank Top 3 Customers by Profit Within Each Region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9202" y="6847290"/>
            <a:ext cx="9337573" cy="1222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16"/>
              </a:lnSpc>
            </a:pPr>
            <a:r>
              <a:rPr lang="en-US" sz="17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DENSE_RANK() partitioned by region and ordered by SUM(profit) DESC, this query identifies the top 3 profit-generating customers in each geographic region. These regional key accounts are critical targets for personalized engagement, loyalty programs, and premium service offerings to maximize retention and revenue.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3915844" y="1114493"/>
            <a:ext cx="4255920" cy="3243937"/>
          </a:xfrm>
          <a:custGeom>
            <a:avLst/>
            <a:gdLst/>
            <a:ahLst/>
            <a:cxnLst/>
            <a:rect l="l" t="t" r="r" b="b"/>
            <a:pathLst>
              <a:path w="4255920" h="3243937">
                <a:moveTo>
                  <a:pt x="4255919" y="0"/>
                </a:moveTo>
                <a:lnTo>
                  <a:pt x="0" y="0"/>
                </a:lnTo>
                <a:lnTo>
                  <a:pt x="0" y="3243937"/>
                </a:lnTo>
                <a:lnTo>
                  <a:pt x="4255919" y="3243937"/>
                </a:lnTo>
                <a:lnTo>
                  <a:pt x="42559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0" y="112665"/>
            <a:ext cx="9367481" cy="457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SELECT region,customer_id,customer_name,total_profit,rnk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FROM (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SELECT o.region,c.customer_id,c.customer_name,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SUM(s.profit) AS total_profit,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RANK() OVER (PARTITION BY o.region ORDER BY SUM(s.profit) DESC) AS rnk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FROM customers c 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INNER JOIN orders o ON c.customer_id = o.customer_id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INNER JOIN sales s ON o.order_id = s.order_id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  GROUP BY o.region, c.customer_id, c.customer_name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) ranked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WHERE rnk &lt;= 3</a:t>
            </a:r>
          </a:p>
          <a:p>
            <a:pPr marL="0" lvl="0" indent="0" algn="just">
              <a:lnSpc>
                <a:spcPts val="3031"/>
              </a:lnSpc>
              <a:spcBef>
                <a:spcPct val="0"/>
              </a:spcBef>
            </a:pPr>
            <a:r>
              <a:rPr lang="en-US" sz="2165" u="none" strike="noStrik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ORDER BY region, rnk;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2AB86F-70C0-860D-614B-B527F9C53D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91" y="5296316"/>
            <a:ext cx="5253664" cy="3368669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986329" y="4504208"/>
            <a:ext cx="7579777" cy="632724"/>
            <a:chOff x="0" y="0"/>
            <a:chExt cx="1996320" cy="1666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6320" cy="166643"/>
            </a:xfrm>
            <a:custGeom>
              <a:avLst/>
              <a:gdLst/>
              <a:ahLst/>
              <a:cxnLst/>
              <a:rect l="l" t="t" r="r" b="b"/>
              <a:pathLst>
                <a:path w="1996320" h="166643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38045"/>
                  </a:lnTo>
                  <a:cubicBezTo>
                    <a:pt x="1996320" y="145629"/>
                    <a:pt x="1993307" y="152904"/>
                    <a:pt x="1987943" y="158267"/>
                  </a:cubicBezTo>
                  <a:cubicBezTo>
                    <a:pt x="1982580" y="163630"/>
                    <a:pt x="1975306" y="166643"/>
                    <a:pt x="1967721" y="166643"/>
                  </a:cubicBezTo>
                  <a:lnTo>
                    <a:pt x="28599" y="166643"/>
                  </a:lnTo>
                  <a:cubicBezTo>
                    <a:pt x="21014" y="166643"/>
                    <a:pt x="13740" y="163630"/>
                    <a:pt x="8376" y="158267"/>
                  </a:cubicBezTo>
                  <a:cubicBezTo>
                    <a:pt x="3013" y="152904"/>
                    <a:pt x="0" y="145629"/>
                    <a:pt x="0" y="138045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96320" cy="204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86329" y="5355232"/>
            <a:ext cx="7579777" cy="635202"/>
            <a:chOff x="0" y="0"/>
            <a:chExt cx="1996320" cy="1672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6320" cy="167296"/>
            </a:xfrm>
            <a:custGeom>
              <a:avLst/>
              <a:gdLst/>
              <a:ahLst/>
              <a:cxnLst/>
              <a:rect l="l" t="t" r="r" b="b"/>
              <a:pathLst>
                <a:path w="1996320" h="167296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38697"/>
                  </a:lnTo>
                  <a:cubicBezTo>
                    <a:pt x="1996320" y="146282"/>
                    <a:pt x="1993307" y="153556"/>
                    <a:pt x="1987943" y="158919"/>
                  </a:cubicBezTo>
                  <a:cubicBezTo>
                    <a:pt x="1982580" y="164283"/>
                    <a:pt x="1975306" y="167296"/>
                    <a:pt x="1967721" y="167296"/>
                  </a:cubicBezTo>
                  <a:lnTo>
                    <a:pt x="28599" y="167296"/>
                  </a:lnTo>
                  <a:cubicBezTo>
                    <a:pt x="21014" y="167296"/>
                    <a:pt x="13740" y="164283"/>
                    <a:pt x="8376" y="158919"/>
                  </a:cubicBezTo>
                  <a:cubicBezTo>
                    <a:pt x="3013" y="153556"/>
                    <a:pt x="0" y="146282"/>
                    <a:pt x="0" y="138697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96320" cy="205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227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86329" y="6178017"/>
            <a:ext cx="7579777" cy="665919"/>
            <a:chOff x="0" y="0"/>
            <a:chExt cx="1996320" cy="1753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96320" cy="175386"/>
            </a:xfrm>
            <a:custGeom>
              <a:avLst/>
              <a:gdLst/>
              <a:ahLst/>
              <a:cxnLst/>
              <a:rect l="l" t="t" r="r" b="b"/>
              <a:pathLst>
                <a:path w="1996320" h="175386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6787"/>
                  </a:lnTo>
                  <a:cubicBezTo>
                    <a:pt x="1996320" y="154372"/>
                    <a:pt x="1993307" y="161646"/>
                    <a:pt x="1987943" y="167010"/>
                  </a:cubicBezTo>
                  <a:cubicBezTo>
                    <a:pt x="1982580" y="172373"/>
                    <a:pt x="1975306" y="175386"/>
                    <a:pt x="1967721" y="175386"/>
                  </a:cubicBezTo>
                  <a:lnTo>
                    <a:pt x="28599" y="175386"/>
                  </a:lnTo>
                  <a:cubicBezTo>
                    <a:pt x="21014" y="175386"/>
                    <a:pt x="13740" y="172373"/>
                    <a:pt x="8376" y="167010"/>
                  </a:cubicBezTo>
                  <a:cubicBezTo>
                    <a:pt x="3013" y="161646"/>
                    <a:pt x="0" y="154372"/>
                    <a:pt x="0" y="146787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96320" cy="213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86329" y="7005735"/>
            <a:ext cx="7410664" cy="691702"/>
            <a:chOff x="0" y="0"/>
            <a:chExt cx="1951780" cy="1821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51780" cy="182177"/>
            </a:xfrm>
            <a:custGeom>
              <a:avLst/>
              <a:gdLst/>
              <a:ahLst/>
              <a:cxnLst/>
              <a:rect l="l" t="t" r="r" b="b"/>
              <a:pathLst>
                <a:path w="1951780" h="182177">
                  <a:moveTo>
                    <a:pt x="29252" y="0"/>
                  </a:moveTo>
                  <a:lnTo>
                    <a:pt x="1922528" y="0"/>
                  </a:lnTo>
                  <a:cubicBezTo>
                    <a:pt x="1938683" y="0"/>
                    <a:pt x="1951780" y="13096"/>
                    <a:pt x="1951780" y="29252"/>
                  </a:cubicBezTo>
                  <a:lnTo>
                    <a:pt x="1951780" y="152925"/>
                  </a:lnTo>
                  <a:cubicBezTo>
                    <a:pt x="1951780" y="169080"/>
                    <a:pt x="1938683" y="182177"/>
                    <a:pt x="1922528" y="182177"/>
                  </a:cubicBezTo>
                  <a:lnTo>
                    <a:pt x="29252" y="182177"/>
                  </a:lnTo>
                  <a:cubicBezTo>
                    <a:pt x="13096" y="182177"/>
                    <a:pt x="0" y="169080"/>
                    <a:pt x="0" y="152925"/>
                  </a:cubicBezTo>
                  <a:lnTo>
                    <a:pt x="0" y="29252"/>
                  </a:lnTo>
                  <a:cubicBezTo>
                    <a:pt x="0" y="13096"/>
                    <a:pt x="13096" y="0"/>
                    <a:pt x="29252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951780" cy="220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86329" y="7941704"/>
            <a:ext cx="7579777" cy="609235"/>
            <a:chOff x="0" y="0"/>
            <a:chExt cx="1996320" cy="1604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96320" cy="160457"/>
            </a:xfrm>
            <a:custGeom>
              <a:avLst/>
              <a:gdLst/>
              <a:ahLst/>
              <a:cxnLst/>
              <a:rect l="l" t="t" r="r" b="b"/>
              <a:pathLst>
                <a:path w="1996320" h="160457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31858"/>
                  </a:lnTo>
                  <a:cubicBezTo>
                    <a:pt x="1996320" y="147653"/>
                    <a:pt x="1983516" y="160457"/>
                    <a:pt x="1967721" y="160457"/>
                  </a:cubicBezTo>
                  <a:lnTo>
                    <a:pt x="28599" y="160457"/>
                  </a:lnTo>
                  <a:cubicBezTo>
                    <a:pt x="21014" y="160457"/>
                    <a:pt x="13740" y="157444"/>
                    <a:pt x="8376" y="152080"/>
                  </a:cubicBezTo>
                  <a:cubicBezTo>
                    <a:pt x="3013" y="146717"/>
                    <a:pt x="0" y="139443"/>
                    <a:pt x="0" y="131858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96320" cy="19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30146" y="4588747"/>
            <a:ext cx="472735" cy="47273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30146" y="5431867"/>
            <a:ext cx="472735" cy="47273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30146" y="6274987"/>
            <a:ext cx="472735" cy="47273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30146" y="7118106"/>
            <a:ext cx="472735" cy="47273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30146" y="7961226"/>
            <a:ext cx="472735" cy="47273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475330" y="1698678"/>
            <a:ext cx="8713468" cy="7439123"/>
          </a:xfrm>
          <a:custGeom>
            <a:avLst/>
            <a:gdLst/>
            <a:ahLst/>
            <a:cxnLst/>
            <a:rect l="l" t="t" r="r" b="b"/>
            <a:pathLst>
              <a:path w="8713468" h="7439123">
                <a:moveTo>
                  <a:pt x="0" y="0"/>
                </a:moveTo>
                <a:lnTo>
                  <a:pt x="8713467" y="0"/>
                </a:lnTo>
                <a:lnTo>
                  <a:pt x="8713467" y="7439124"/>
                </a:lnTo>
                <a:lnTo>
                  <a:pt x="0" y="7439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rot="-8624752">
            <a:off x="785499" y="3828383"/>
            <a:ext cx="1085674" cy="1556523"/>
          </a:xfrm>
          <a:custGeom>
            <a:avLst/>
            <a:gdLst/>
            <a:ahLst/>
            <a:cxnLst/>
            <a:rect l="l" t="t" r="r" b="b"/>
            <a:pathLst>
              <a:path w="1085674" h="1556523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rot="3736269">
            <a:off x="7443072" y="6750963"/>
            <a:ext cx="856381" cy="1227787"/>
          </a:xfrm>
          <a:custGeom>
            <a:avLst/>
            <a:gdLst/>
            <a:ahLst/>
            <a:cxnLst/>
            <a:rect l="l" t="t" r="r" b="b"/>
            <a:pathLst>
              <a:path w="856381" h="1227787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-462655" y="1076452"/>
            <a:ext cx="2712398" cy="1990222"/>
          </a:xfrm>
          <a:custGeom>
            <a:avLst/>
            <a:gdLst/>
            <a:ahLst/>
            <a:cxnLst/>
            <a:rect l="l" t="t" r="r" b="b"/>
            <a:pathLst>
              <a:path w="2712398" h="1990222">
                <a:moveTo>
                  <a:pt x="0" y="0"/>
                </a:moveTo>
                <a:lnTo>
                  <a:pt x="2712399" y="0"/>
                </a:lnTo>
                <a:lnTo>
                  <a:pt x="2712399" y="1990222"/>
                </a:lnTo>
                <a:lnTo>
                  <a:pt x="0" y="1990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330146" y="1539976"/>
            <a:ext cx="8957854" cy="68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62"/>
              </a:lnSpc>
            </a:pPr>
            <a:r>
              <a:rPr lang="en-US" sz="5272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SUMMARY &amp; KEY TAKEAWAYS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58897" y="2705836"/>
            <a:ext cx="8929103" cy="12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Insights from 25 SQL Queries</a:t>
            </a:r>
          </a:p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 the Superstore Sales Database</a:t>
            </a:r>
          </a:p>
        </p:txBody>
      </p:sp>
      <p:sp>
        <p:nvSpPr>
          <p:cNvPr id="44" name="Freeform 44"/>
          <p:cNvSpPr/>
          <p:nvPr/>
        </p:nvSpPr>
        <p:spPr>
          <a:xfrm rot="7612064">
            <a:off x="17420867" y="2450918"/>
            <a:ext cx="1085674" cy="1556523"/>
          </a:xfrm>
          <a:custGeom>
            <a:avLst/>
            <a:gdLst/>
            <a:ahLst/>
            <a:cxnLst/>
            <a:rect l="l" t="t" r="r" b="b"/>
            <a:pathLst>
              <a:path w="1085674" h="1556523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0221154" y="4682845"/>
            <a:ext cx="7175839" cy="28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0"/>
              </a:lnSpc>
            </a:pPr>
            <a:r>
              <a:rPr lang="en-US" sz="162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segmentation reveals key profit drivers and risk areas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390267" y="5422046"/>
            <a:ext cx="7175839" cy="56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0"/>
              </a:lnSpc>
              <a:spcBef>
                <a:spcPct val="0"/>
              </a:spcBef>
            </a:pPr>
            <a:r>
              <a:rPr lang="en-US" sz="1621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Shipping analysis highlights opportunities to improve delivery speed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390267" y="6275548"/>
            <a:ext cx="7175839" cy="56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0"/>
              </a:lnSpc>
              <a:spcBef>
                <a:spcPct val="0"/>
              </a:spcBef>
            </a:pPr>
            <a:r>
              <a:rPr lang="en-US" sz="1621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performance insights guide inventory and pricing strategies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390267" y="7129049"/>
            <a:ext cx="7175839" cy="28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0"/>
              </a:lnSpc>
              <a:spcBef>
                <a:spcPct val="0"/>
              </a:spcBef>
            </a:pPr>
            <a:r>
              <a:rPr lang="en-US" sz="1621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Sales deep dive identifies high-value orders and discount impact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390267" y="7982551"/>
            <a:ext cx="7175839" cy="56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0"/>
              </a:lnSpc>
              <a:spcBef>
                <a:spcPct val="0"/>
              </a:spcBef>
            </a:pPr>
            <a:r>
              <a:rPr lang="en-US" sz="1621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analytics enable targeted, data-driven business decisions</a:t>
            </a:r>
          </a:p>
        </p:txBody>
      </p:sp>
    </p:spTree>
  </p:cSld>
  <p:clrMapOvr>
    <a:masterClrMapping/>
  </p:clrMapOvr>
  <p:transition spd="med" advClick="0" advTm="5000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4441" y="0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353358" y="4300764"/>
            <a:ext cx="7944543" cy="4080252"/>
            <a:chOff x="0" y="0"/>
            <a:chExt cx="2092390" cy="10746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2390" cy="1074634"/>
            </a:xfrm>
            <a:custGeom>
              <a:avLst/>
              <a:gdLst/>
              <a:ahLst/>
              <a:cxnLst/>
              <a:rect l="l" t="t" r="r" b="b"/>
              <a:pathLst>
                <a:path w="2092390" h="1074634">
                  <a:moveTo>
                    <a:pt x="48725" y="0"/>
                  </a:moveTo>
                  <a:lnTo>
                    <a:pt x="2043665" y="0"/>
                  </a:lnTo>
                  <a:cubicBezTo>
                    <a:pt x="2070575" y="0"/>
                    <a:pt x="2092390" y="21815"/>
                    <a:pt x="2092390" y="48725"/>
                  </a:cubicBezTo>
                  <a:lnTo>
                    <a:pt x="2092390" y="1025910"/>
                  </a:lnTo>
                  <a:cubicBezTo>
                    <a:pt x="2092390" y="1038832"/>
                    <a:pt x="2087257" y="1051225"/>
                    <a:pt x="2078119" y="1060363"/>
                  </a:cubicBezTo>
                  <a:cubicBezTo>
                    <a:pt x="2068981" y="1069501"/>
                    <a:pt x="2056588" y="1074634"/>
                    <a:pt x="2043665" y="1074634"/>
                  </a:cubicBezTo>
                  <a:lnTo>
                    <a:pt x="48725" y="1074634"/>
                  </a:lnTo>
                  <a:cubicBezTo>
                    <a:pt x="35802" y="1074634"/>
                    <a:pt x="23409" y="1069501"/>
                    <a:pt x="14271" y="1060363"/>
                  </a:cubicBezTo>
                  <a:cubicBezTo>
                    <a:pt x="5133" y="1051225"/>
                    <a:pt x="0" y="1038832"/>
                    <a:pt x="0" y="1025910"/>
                  </a:cubicBezTo>
                  <a:lnTo>
                    <a:pt x="0" y="48725"/>
                  </a:lnTo>
                  <a:cubicBezTo>
                    <a:pt x="0" y="35802"/>
                    <a:pt x="5133" y="23409"/>
                    <a:pt x="14271" y="14271"/>
                  </a:cubicBezTo>
                  <a:cubicBezTo>
                    <a:pt x="23409" y="5133"/>
                    <a:pt x="35802" y="0"/>
                    <a:pt x="48725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92390" cy="1112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4466690" y="495300"/>
            <a:ext cx="3331403" cy="8777316"/>
          </a:xfrm>
          <a:custGeom>
            <a:avLst/>
            <a:gdLst/>
            <a:ahLst/>
            <a:cxnLst/>
            <a:rect l="l" t="t" r="r" b="b"/>
            <a:pathLst>
              <a:path w="7998730" h="24423603">
                <a:moveTo>
                  <a:pt x="0" y="0"/>
                </a:moveTo>
                <a:lnTo>
                  <a:pt x="7998730" y="0"/>
                </a:lnTo>
                <a:lnTo>
                  <a:pt x="7998730" y="24423603"/>
                </a:lnTo>
                <a:lnTo>
                  <a:pt x="0" y="2442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353358" y="1461541"/>
            <a:ext cx="8934642" cy="260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RUSHIKESH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NARAYAN</a:t>
            </a:r>
          </a:p>
          <a:p>
            <a:pPr marL="0" lvl="0" indent="0" algn="l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SULTANE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7363" y="4674441"/>
            <a:ext cx="8460637" cy="12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BSc Data Science</a:t>
            </a:r>
          </a:p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Presenter 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7363" y="6156314"/>
            <a:ext cx="6820810" cy="1415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19"/>
              </a:lnSpc>
            </a:pPr>
            <a:r>
              <a:rPr lang="en-US" sz="20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Project: Superstore Sales Database Analysis — 25 SQL Queries with Insights. Exploring customer behavior, shipping performance, product profitability, and advanced analytics using structured SQL techniques.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396208" y="2147164"/>
            <a:ext cx="2384876" cy="1817794"/>
          </a:xfrm>
          <a:custGeom>
            <a:avLst/>
            <a:gdLst/>
            <a:ahLst/>
            <a:cxnLst/>
            <a:rect l="l" t="t" r="r" b="b"/>
            <a:pathLst>
              <a:path w="2384876" h="1817794">
                <a:moveTo>
                  <a:pt x="0" y="0"/>
                </a:moveTo>
                <a:lnTo>
                  <a:pt x="2384875" y="0"/>
                </a:lnTo>
                <a:lnTo>
                  <a:pt x="2384875" y="1817795"/>
                </a:lnTo>
                <a:lnTo>
                  <a:pt x="0" y="1817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6506237">
            <a:off x="1143784" y="5592010"/>
            <a:ext cx="1699296" cy="3433967"/>
          </a:xfrm>
          <a:custGeom>
            <a:avLst/>
            <a:gdLst/>
            <a:ahLst/>
            <a:cxnLst/>
            <a:rect l="l" t="t" r="r" b="b"/>
            <a:pathLst>
              <a:path w="1593254" h="2284235">
                <a:moveTo>
                  <a:pt x="0" y="0"/>
                </a:moveTo>
                <a:lnTo>
                  <a:pt x="1593254" y="0"/>
                </a:lnTo>
                <a:lnTo>
                  <a:pt x="1593254" y="2284235"/>
                </a:lnTo>
                <a:lnTo>
                  <a:pt x="0" y="2284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4692927">
            <a:off x="2556548" y="762710"/>
            <a:ext cx="1023467" cy="1467336"/>
          </a:xfrm>
          <a:custGeom>
            <a:avLst/>
            <a:gdLst/>
            <a:ahLst/>
            <a:cxnLst/>
            <a:rect l="l" t="t" r="r" b="b"/>
            <a:pathLst>
              <a:path w="1023467" h="1467336">
                <a:moveTo>
                  <a:pt x="0" y="0"/>
                </a:moveTo>
                <a:lnTo>
                  <a:pt x="1023467" y="0"/>
                </a:lnTo>
                <a:lnTo>
                  <a:pt x="1023467" y="1467337"/>
                </a:lnTo>
                <a:lnTo>
                  <a:pt x="0" y="1467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3082179">
            <a:off x="16621236" y="1438519"/>
            <a:ext cx="1066842" cy="1529523"/>
          </a:xfrm>
          <a:custGeom>
            <a:avLst/>
            <a:gdLst/>
            <a:ahLst/>
            <a:cxnLst/>
            <a:rect l="l" t="t" r="r" b="b"/>
            <a:pathLst>
              <a:path w="1066842" h="1529523">
                <a:moveTo>
                  <a:pt x="0" y="0"/>
                </a:moveTo>
                <a:lnTo>
                  <a:pt x="1066843" y="0"/>
                </a:lnTo>
                <a:lnTo>
                  <a:pt x="1066843" y="1529523"/>
                </a:lnTo>
                <a:lnTo>
                  <a:pt x="0" y="1529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med" advClick="0" advTm="5000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6696" y="157718"/>
            <a:ext cx="20556882" cy="10287000"/>
            <a:chOff x="0" y="0"/>
            <a:chExt cx="274091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693176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2889006" y="9258300"/>
            <a:ext cx="24066013" cy="1630186"/>
            <a:chOff x="0" y="0"/>
            <a:chExt cx="6338374" cy="4293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8374" cy="429349"/>
            </a:xfrm>
            <a:custGeom>
              <a:avLst/>
              <a:gdLst/>
              <a:ahLst/>
              <a:cxnLst/>
              <a:rect l="l" t="t" r="r" b="b"/>
              <a:pathLst>
                <a:path w="6338374" h="429349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8227" y="4636057"/>
            <a:ext cx="6450373" cy="665162"/>
            <a:chOff x="0" y="0"/>
            <a:chExt cx="1698864" cy="1751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8864" cy="175187"/>
            </a:xfrm>
            <a:custGeom>
              <a:avLst/>
              <a:gdLst/>
              <a:ahLst/>
              <a:cxnLst/>
              <a:rect l="l" t="t" r="r" b="b"/>
              <a:pathLst>
                <a:path w="1698864" h="175187">
                  <a:moveTo>
                    <a:pt x="33606" y="0"/>
                  </a:moveTo>
                  <a:lnTo>
                    <a:pt x="1665257" y="0"/>
                  </a:lnTo>
                  <a:cubicBezTo>
                    <a:pt x="1674170" y="0"/>
                    <a:pt x="1682718" y="3541"/>
                    <a:pt x="1689021" y="9843"/>
                  </a:cubicBezTo>
                  <a:cubicBezTo>
                    <a:pt x="1695323" y="16146"/>
                    <a:pt x="1698864" y="24693"/>
                    <a:pt x="1698864" y="33606"/>
                  </a:cubicBezTo>
                  <a:lnTo>
                    <a:pt x="1698864" y="141580"/>
                  </a:lnTo>
                  <a:cubicBezTo>
                    <a:pt x="1698864" y="150493"/>
                    <a:pt x="1695323" y="159041"/>
                    <a:pt x="1689021" y="165344"/>
                  </a:cubicBezTo>
                  <a:cubicBezTo>
                    <a:pt x="1682718" y="171646"/>
                    <a:pt x="1674170" y="175187"/>
                    <a:pt x="1665257" y="175187"/>
                  </a:cubicBezTo>
                  <a:lnTo>
                    <a:pt x="33606" y="175187"/>
                  </a:lnTo>
                  <a:cubicBezTo>
                    <a:pt x="15046" y="175187"/>
                    <a:pt x="0" y="160141"/>
                    <a:pt x="0" y="141580"/>
                  </a:cubicBezTo>
                  <a:lnTo>
                    <a:pt x="0" y="33606"/>
                  </a:lnTo>
                  <a:cubicBezTo>
                    <a:pt x="0" y="24693"/>
                    <a:pt x="3541" y="16146"/>
                    <a:pt x="9843" y="9843"/>
                  </a:cubicBezTo>
                  <a:cubicBezTo>
                    <a:pt x="16146" y="3541"/>
                    <a:pt x="24693" y="0"/>
                    <a:pt x="33606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98864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08227" y="5489558"/>
            <a:ext cx="6450373" cy="663002"/>
            <a:chOff x="0" y="0"/>
            <a:chExt cx="1698864" cy="1746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8864" cy="174618"/>
            </a:xfrm>
            <a:custGeom>
              <a:avLst/>
              <a:gdLst/>
              <a:ahLst/>
              <a:cxnLst/>
              <a:rect l="l" t="t" r="r" b="b"/>
              <a:pathLst>
                <a:path w="1698864" h="174618">
                  <a:moveTo>
                    <a:pt x="33606" y="0"/>
                  </a:moveTo>
                  <a:lnTo>
                    <a:pt x="1665257" y="0"/>
                  </a:lnTo>
                  <a:cubicBezTo>
                    <a:pt x="1674170" y="0"/>
                    <a:pt x="1682718" y="3541"/>
                    <a:pt x="1689021" y="9843"/>
                  </a:cubicBezTo>
                  <a:cubicBezTo>
                    <a:pt x="1695323" y="16146"/>
                    <a:pt x="1698864" y="24693"/>
                    <a:pt x="1698864" y="33606"/>
                  </a:cubicBezTo>
                  <a:lnTo>
                    <a:pt x="1698864" y="141011"/>
                  </a:lnTo>
                  <a:cubicBezTo>
                    <a:pt x="1698864" y="159572"/>
                    <a:pt x="1683817" y="174618"/>
                    <a:pt x="1665257" y="174618"/>
                  </a:cubicBezTo>
                  <a:lnTo>
                    <a:pt x="33606" y="174618"/>
                  </a:lnTo>
                  <a:cubicBezTo>
                    <a:pt x="24693" y="174618"/>
                    <a:pt x="16146" y="171077"/>
                    <a:pt x="9843" y="164775"/>
                  </a:cubicBezTo>
                  <a:cubicBezTo>
                    <a:pt x="3541" y="158472"/>
                    <a:pt x="0" y="149924"/>
                    <a:pt x="0" y="141011"/>
                  </a:cubicBezTo>
                  <a:lnTo>
                    <a:pt x="0" y="33606"/>
                  </a:lnTo>
                  <a:cubicBezTo>
                    <a:pt x="0" y="24693"/>
                    <a:pt x="3541" y="16146"/>
                    <a:pt x="9843" y="9843"/>
                  </a:cubicBezTo>
                  <a:cubicBezTo>
                    <a:pt x="16146" y="3541"/>
                    <a:pt x="24693" y="0"/>
                    <a:pt x="33606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98864" cy="212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08227" y="6343060"/>
            <a:ext cx="6450373" cy="665162"/>
            <a:chOff x="0" y="0"/>
            <a:chExt cx="1698864" cy="1751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8864" cy="175187"/>
            </a:xfrm>
            <a:custGeom>
              <a:avLst/>
              <a:gdLst/>
              <a:ahLst/>
              <a:cxnLst/>
              <a:rect l="l" t="t" r="r" b="b"/>
              <a:pathLst>
                <a:path w="1698864" h="175187">
                  <a:moveTo>
                    <a:pt x="33606" y="0"/>
                  </a:moveTo>
                  <a:lnTo>
                    <a:pt x="1665257" y="0"/>
                  </a:lnTo>
                  <a:cubicBezTo>
                    <a:pt x="1674170" y="0"/>
                    <a:pt x="1682718" y="3541"/>
                    <a:pt x="1689021" y="9843"/>
                  </a:cubicBezTo>
                  <a:cubicBezTo>
                    <a:pt x="1695323" y="16146"/>
                    <a:pt x="1698864" y="24693"/>
                    <a:pt x="1698864" y="33606"/>
                  </a:cubicBezTo>
                  <a:lnTo>
                    <a:pt x="1698864" y="141580"/>
                  </a:lnTo>
                  <a:cubicBezTo>
                    <a:pt x="1698864" y="150493"/>
                    <a:pt x="1695323" y="159041"/>
                    <a:pt x="1689021" y="165344"/>
                  </a:cubicBezTo>
                  <a:cubicBezTo>
                    <a:pt x="1682718" y="171646"/>
                    <a:pt x="1674170" y="175187"/>
                    <a:pt x="1665257" y="175187"/>
                  </a:cubicBezTo>
                  <a:lnTo>
                    <a:pt x="33606" y="175187"/>
                  </a:lnTo>
                  <a:cubicBezTo>
                    <a:pt x="15046" y="175187"/>
                    <a:pt x="0" y="160141"/>
                    <a:pt x="0" y="141580"/>
                  </a:cubicBezTo>
                  <a:lnTo>
                    <a:pt x="0" y="33606"/>
                  </a:lnTo>
                  <a:cubicBezTo>
                    <a:pt x="0" y="24693"/>
                    <a:pt x="3541" y="16146"/>
                    <a:pt x="9843" y="9843"/>
                  </a:cubicBezTo>
                  <a:cubicBezTo>
                    <a:pt x="16146" y="3541"/>
                    <a:pt x="24693" y="0"/>
                    <a:pt x="33606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98864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08227" y="7198722"/>
            <a:ext cx="6450373" cy="665162"/>
            <a:chOff x="0" y="0"/>
            <a:chExt cx="1698864" cy="1751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98864" cy="175187"/>
            </a:xfrm>
            <a:custGeom>
              <a:avLst/>
              <a:gdLst/>
              <a:ahLst/>
              <a:cxnLst/>
              <a:rect l="l" t="t" r="r" b="b"/>
              <a:pathLst>
                <a:path w="1698864" h="175187">
                  <a:moveTo>
                    <a:pt x="33606" y="0"/>
                  </a:moveTo>
                  <a:lnTo>
                    <a:pt x="1665257" y="0"/>
                  </a:lnTo>
                  <a:cubicBezTo>
                    <a:pt x="1674170" y="0"/>
                    <a:pt x="1682718" y="3541"/>
                    <a:pt x="1689021" y="9843"/>
                  </a:cubicBezTo>
                  <a:cubicBezTo>
                    <a:pt x="1695323" y="16146"/>
                    <a:pt x="1698864" y="24693"/>
                    <a:pt x="1698864" y="33606"/>
                  </a:cubicBezTo>
                  <a:lnTo>
                    <a:pt x="1698864" y="141580"/>
                  </a:lnTo>
                  <a:cubicBezTo>
                    <a:pt x="1698864" y="150493"/>
                    <a:pt x="1695323" y="159041"/>
                    <a:pt x="1689021" y="165344"/>
                  </a:cubicBezTo>
                  <a:cubicBezTo>
                    <a:pt x="1682718" y="171646"/>
                    <a:pt x="1674170" y="175187"/>
                    <a:pt x="1665257" y="175187"/>
                  </a:cubicBezTo>
                  <a:lnTo>
                    <a:pt x="33606" y="175187"/>
                  </a:lnTo>
                  <a:cubicBezTo>
                    <a:pt x="15046" y="175187"/>
                    <a:pt x="0" y="160141"/>
                    <a:pt x="0" y="141580"/>
                  </a:cubicBezTo>
                  <a:lnTo>
                    <a:pt x="0" y="33606"/>
                  </a:lnTo>
                  <a:cubicBezTo>
                    <a:pt x="0" y="24693"/>
                    <a:pt x="3541" y="16146"/>
                    <a:pt x="9843" y="9843"/>
                  </a:cubicBezTo>
                  <a:cubicBezTo>
                    <a:pt x="16146" y="3541"/>
                    <a:pt x="24693" y="0"/>
                    <a:pt x="33606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698864" cy="21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8952044" y="6502601"/>
            <a:ext cx="478858" cy="358622"/>
          </a:xfrm>
          <a:custGeom>
            <a:avLst/>
            <a:gdLst/>
            <a:ahLst/>
            <a:cxnLst/>
            <a:rect l="l" t="t" r="r" b="b"/>
            <a:pathLst>
              <a:path w="478858" h="358622">
                <a:moveTo>
                  <a:pt x="0" y="0"/>
                </a:moveTo>
                <a:lnTo>
                  <a:pt x="478858" y="0"/>
                </a:lnTo>
                <a:lnTo>
                  <a:pt x="478858" y="358622"/>
                </a:lnTo>
                <a:lnTo>
                  <a:pt x="0" y="358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952044" y="5572328"/>
            <a:ext cx="478858" cy="478858"/>
          </a:xfrm>
          <a:custGeom>
            <a:avLst/>
            <a:gdLst/>
            <a:ahLst/>
            <a:cxnLst/>
            <a:rect l="l" t="t" r="r" b="b"/>
            <a:pathLst>
              <a:path w="478858" h="478858">
                <a:moveTo>
                  <a:pt x="0" y="0"/>
                </a:moveTo>
                <a:lnTo>
                  <a:pt x="478858" y="0"/>
                </a:lnTo>
                <a:lnTo>
                  <a:pt x="478858" y="478858"/>
                </a:lnTo>
                <a:lnTo>
                  <a:pt x="0" y="478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69927" y="2492558"/>
            <a:ext cx="6591891" cy="7324324"/>
          </a:xfrm>
          <a:custGeom>
            <a:avLst/>
            <a:gdLst/>
            <a:ahLst/>
            <a:cxnLst/>
            <a:rect l="l" t="t" r="r" b="b"/>
            <a:pathLst>
              <a:path w="6591891" h="7324324">
                <a:moveTo>
                  <a:pt x="0" y="0"/>
                </a:moveTo>
                <a:lnTo>
                  <a:pt x="6591892" y="0"/>
                </a:lnTo>
                <a:lnTo>
                  <a:pt x="6591892" y="7324324"/>
                </a:lnTo>
                <a:lnTo>
                  <a:pt x="0" y="7324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424779" y="1285673"/>
            <a:ext cx="9342078" cy="1615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</a:pPr>
            <a:r>
              <a:rPr lang="en-US" sz="644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THANK YOU!</a:t>
            </a:r>
          </a:p>
          <a:p>
            <a:pPr marL="0" lvl="0" indent="0" algn="l">
              <a:lnSpc>
                <a:spcPts val="6187"/>
              </a:lnSpc>
            </a:pPr>
            <a:endParaRPr lang="en-US" sz="6445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45922" y="2987081"/>
            <a:ext cx="9342078" cy="12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Superstore Sales Database Analysis</a:t>
            </a:r>
          </a:p>
          <a:p>
            <a:pPr marL="0" lvl="0" indent="0" algn="l">
              <a:lnSpc>
                <a:spcPts val="5036"/>
              </a:lnSpc>
            </a:pPr>
            <a:r>
              <a:rPr lang="en-US" sz="35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25 SQL Queries with Insights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66471" y="4704256"/>
            <a:ext cx="8221529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Rushikesh Narayan Sultane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66471" y="5557757"/>
            <a:ext cx="8221529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9834987900</a:t>
            </a:r>
          </a:p>
        </p:txBody>
      </p:sp>
      <p:sp>
        <p:nvSpPr>
          <p:cNvPr id="28" name="Freeform 28"/>
          <p:cNvSpPr/>
          <p:nvPr/>
        </p:nvSpPr>
        <p:spPr>
          <a:xfrm flipH="1">
            <a:off x="15604084" y="3753685"/>
            <a:ext cx="3866037" cy="3493491"/>
          </a:xfrm>
          <a:custGeom>
            <a:avLst/>
            <a:gdLst/>
            <a:ahLst/>
            <a:cxnLst/>
            <a:rect l="l" t="t" r="r" b="b"/>
            <a:pathLst>
              <a:path w="3866037" h="3493491">
                <a:moveTo>
                  <a:pt x="3866037" y="0"/>
                </a:moveTo>
                <a:lnTo>
                  <a:pt x="0" y="0"/>
                </a:lnTo>
                <a:lnTo>
                  <a:pt x="0" y="3493491"/>
                </a:lnTo>
                <a:lnTo>
                  <a:pt x="3866037" y="3493491"/>
                </a:lnTo>
                <a:lnTo>
                  <a:pt x="38660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668331">
            <a:off x="-1067866" y="899442"/>
            <a:ext cx="2787779" cy="5746626"/>
          </a:xfrm>
          <a:custGeom>
            <a:avLst/>
            <a:gdLst/>
            <a:ahLst/>
            <a:cxnLst/>
            <a:rect l="l" t="t" r="r" b="b"/>
            <a:pathLst>
              <a:path w="2787779" h="5746626">
                <a:moveTo>
                  <a:pt x="0" y="0"/>
                </a:moveTo>
                <a:lnTo>
                  <a:pt x="2787779" y="0"/>
                </a:lnTo>
                <a:lnTo>
                  <a:pt x="2787779" y="5746627"/>
                </a:lnTo>
                <a:lnTo>
                  <a:pt x="0" y="5746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4435513">
            <a:off x="6637520" y="623906"/>
            <a:ext cx="1338783" cy="1919401"/>
          </a:xfrm>
          <a:custGeom>
            <a:avLst/>
            <a:gdLst/>
            <a:ahLst/>
            <a:cxnLst/>
            <a:rect l="l" t="t" r="r" b="b"/>
            <a:pathLst>
              <a:path w="1338783" h="1919401">
                <a:moveTo>
                  <a:pt x="0" y="0"/>
                </a:moveTo>
                <a:lnTo>
                  <a:pt x="1338783" y="0"/>
                </a:lnTo>
                <a:lnTo>
                  <a:pt x="1338783" y="1919401"/>
                </a:lnTo>
                <a:lnTo>
                  <a:pt x="0" y="1919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640807">
            <a:off x="17210913" y="7975673"/>
            <a:ext cx="958101" cy="1373622"/>
          </a:xfrm>
          <a:custGeom>
            <a:avLst/>
            <a:gdLst/>
            <a:ahLst/>
            <a:cxnLst/>
            <a:rect l="l" t="t" r="r" b="b"/>
            <a:pathLst>
              <a:path w="958101" h="1373622">
                <a:moveTo>
                  <a:pt x="0" y="0"/>
                </a:moveTo>
                <a:lnTo>
                  <a:pt x="958102" y="0"/>
                </a:lnTo>
                <a:lnTo>
                  <a:pt x="958102" y="1373622"/>
                </a:lnTo>
                <a:lnTo>
                  <a:pt x="0" y="1373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6490527">
            <a:off x="3161394" y="776991"/>
            <a:ext cx="1125228" cy="1613231"/>
          </a:xfrm>
          <a:custGeom>
            <a:avLst/>
            <a:gdLst/>
            <a:ahLst/>
            <a:cxnLst/>
            <a:rect l="l" t="t" r="r" b="b"/>
            <a:pathLst>
              <a:path w="1125228" h="1613231">
                <a:moveTo>
                  <a:pt x="0" y="0"/>
                </a:moveTo>
                <a:lnTo>
                  <a:pt x="1125228" y="0"/>
                </a:lnTo>
                <a:lnTo>
                  <a:pt x="1125228" y="1613231"/>
                </a:lnTo>
                <a:lnTo>
                  <a:pt x="0" y="1613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862931" y="7198722"/>
            <a:ext cx="657084" cy="657084"/>
          </a:xfrm>
          <a:custGeom>
            <a:avLst/>
            <a:gdLst/>
            <a:ahLst/>
            <a:cxnLst/>
            <a:rect l="l" t="t" r="r" b="b"/>
            <a:pathLst>
              <a:path w="657084" h="657084">
                <a:moveTo>
                  <a:pt x="0" y="0"/>
                </a:moveTo>
                <a:lnTo>
                  <a:pt x="657084" y="0"/>
                </a:lnTo>
                <a:lnTo>
                  <a:pt x="657084" y="657084"/>
                </a:lnTo>
                <a:lnTo>
                  <a:pt x="0" y="6570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TextBox 34"/>
          <p:cNvSpPr txBox="1"/>
          <p:nvPr/>
        </p:nvSpPr>
        <p:spPr>
          <a:xfrm>
            <a:off x="10066471" y="6411259"/>
            <a:ext cx="8221529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rushikesh.sultane@email.com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42275" y="7284447"/>
            <a:ext cx="6551657" cy="38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27"/>
              </a:lnSpc>
              <a:spcBef>
                <a:spcPct val="0"/>
              </a:spcBef>
            </a:pPr>
            <a:r>
              <a:rPr lang="en-US" sz="209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www.linkedin.com/in/rushi-sultane-32284b381</a:t>
            </a:r>
          </a:p>
        </p:txBody>
      </p:sp>
      <p:pic>
        <p:nvPicPr>
          <p:cNvPr id="36" name="Picture 35" descr="Initial Letter ME Yellow Logo Design Stock Vector - Illustration of  consulting, background: 120220947">
            <a:extLst>
              <a:ext uri="{FF2B5EF4-FFF2-40B4-BE49-F238E27FC236}">
                <a16:creationId xmlns:a16="http://schemas.microsoft.com/office/drawing/2014/main" id="{1467E1AC-2D50-54EB-7192-6B1830E6D6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64949" y="4642302"/>
            <a:ext cx="1026881" cy="694428"/>
          </a:xfrm>
          <a:prstGeom prst="rect">
            <a:avLst/>
          </a:prstGeom>
        </p:spPr>
      </p:pic>
    </p:spTree>
  </p:cSld>
  <p:clrMapOvr>
    <a:masterClrMapping/>
  </p:clrMapOvr>
  <p:transition spd="med" advClick="0" advTm="5000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4521</Words>
  <Application>Microsoft Office PowerPoint</Application>
  <PresentationFormat>Custom</PresentationFormat>
  <Paragraphs>369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Poppins Bold</vt:lpstr>
      <vt:lpstr>Arial</vt:lpstr>
      <vt:lpstr>Poppins</vt:lpstr>
      <vt:lpstr>Lilita One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SQL Insights: 25 Queries</dc:title>
  <dc:creator>Rushi Sultane</dc:creator>
  <cp:lastModifiedBy>Rushi Sultane</cp:lastModifiedBy>
  <cp:revision>2</cp:revision>
  <dcterms:created xsi:type="dcterms:W3CDTF">2006-08-16T00:00:00Z</dcterms:created>
  <dcterms:modified xsi:type="dcterms:W3CDTF">2026-06-19T18:41:47Z</dcterms:modified>
  <dc:identifier>DAHNBqWo5v8</dc:identifier>
</cp:coreProperties>
</file>